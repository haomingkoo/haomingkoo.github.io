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7ce1662ed2449b" /><Relationship Type="http://schemas.openxmlformats.org/officeDocument/2006/relationships/extended-properties" Target="/docProps/app.xml" Id="R661dfce47ae74241" /><Relationship Type="http://schemas.openxmlformats.org/officeDocument/2006/relationships/officeDocument" Target="/ppt/presentation.xml" Id="R71b8fa0fe6a74b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c6e6a0bc214f3b"/>
  </p:sldMasterIdLst>
  <p:notesMasterIdLst>
    <p:notesMasterId xmlns:r="http://schemas.openxmlformats.org/officeDocument/2006/relationships" r:id="R3978428a8bc94f2e"/>
  </p:notesMasterIdLst>
  <p:sldIdLst>
    <p:sldId xmlns:r="http://schemas.openxmlformats.org/officeDocument/2006/relationships" id="256" r:id="R4951b25cb6114a5f"/>
    <p:sldId xmlns:r="http://schemas.openxmlformats.org/officeDocument/2006/relationships" id="257" r:id="Rec7432a703c34662"/>
    <p:sldId xmlns:r="http://schemas.openxmlformats.org/officeDocument/2006/relationships" id="258" r:id="Re226bb5ac7c640ca"/>
    <p:sldId xmlns:r="http://schemas.openxmlformats.org/officeDocument/2006/relationships" id="259" r:id="R267fc16ad54f4e84"/>
    <p:sldId xmlns:r="http://schemas.openxmlformats.org/officeDocument/2006/relationships" id="260" r:id="Ree12c9c65d214087"/>
    <p:sldId xmlns:r="http://schemas.openxmlformats.org/officeDocument/2006/relationships" id="261" r:id="Rfa8932cc575e48aa"/>
    <p:sldId xmlns:r="http://schemas.openxmlformats.org/officeDocument/2006/relationships" id="262" r:id="R5e70cdd43c28491f"/>
    <p:sldId xmlns:r="http://schemas.openxmlformats.org/officeDocument/2006/relationships" id="263" r:id="R37f6743f512c4a07"/>
    <p:sldId xmlns:r="http://schemas.openxmlformats.org/officeDocument/2006/relationships" id="264" r:id="R5d8211c9fe2c4270"/>
    <p:sldId xmlns:r="http://schemas.openxmlformats.org/officeDocument/2006/relationships" id="265" r:id="R8060e18afdd7432b"/>
    <p:sldId xmlns:r="http://schemas.openxmlformats.org/officeDocument/2006/relationships" id="266" r:id="R6c597fb9ef584516"/>
    <p:sldId xmlns:r="http://schemas.openxmlformats.org/officeDocument/2006/relationships" id="267" r:id="Re3d6a8a0b1474a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b0c5a96c24401d" /><Relationship Type="http://schemas.openxmlformats.org/officeDocument/2006/relationships/slideMaster" Target="/ppt/slideMasters/slideMaster1.xml" Id="R01c6e6a0bc214f3b" /><Relationship Type="http://schemas.openxmlformats.org/officeDocument/2006/relationships/notesMaster" Target="/ppt/notesMasters/notesMaster1.xml" Id="R3978428a8bc94f2e" /><Relationship Type="http://schemas.openxmlformats.org/officeDocument/2006/relationships/presProps" Target="/ppt/presProps.xml" Id="R917d728b00a34c78" /><Relationship Type="http://schemas.openxmlformats.org/officeDocument/2006/relationships/tableStyles" Target="/ppt/tableStyles.xml" Id="R59a6437becd94860" /><Relationship Type="http://schemas.openxmlformats.org/officeDocument/2006/relationships/slide" Target="/ppt/slides/slide1.xml" Id="R4951b25cb6114a5f" /><Relationship Type="http://schemas.openxmlformats.org/officeDocument/2006/relationships/slide" Target="/ppt/slides/slide2.xml" Id="Rec7432a703c34662" /><Relationship Type="http://schemas.openxmlformats.org/officeDocument/2006/relationships/slide" Target="/ppt/slides/slide3.xml" Id="Re226bb5ac7c640ca" /><Relationship Type="http://schemas.openxmlformats.org/officeDocument/2006/relationships/slide" Target="/ppt/slides/slide4.xml" Id="R267fc16ad54f4e84" /><Relationship Type="http://schemas.openxmlformats.org/officeDocument/2006/relationships/slide" Target="/ppt/slides/slide5.xml" Id="Ree12c9c65d214087" /><Relationship Type="http://schemas.openxmlformats.org/officeDocument/2006/relationships/slide" Target="/ppt/slides/slide6.xml" Id="Rfa8932cc575e48aa" /><Relationship Type="http://schemas.openxmlformats.org/officeDocument/2006/relationships/slide" Target="/ppt/slides/slide7.xml" Id="R5e70cdd43c28491f" /><Relationship Type="http://schemas.openxmlformats.org/officeDocument/2006/relationships/slide" Target="/ppt/slides/slide8.xml" Id="R37f6743f512c4a07" /><Relationship Type="http://schemas.openxmlformats.org/officeDocument/2006/relationships/slide" Target="/ppt/slides/slide9.xml" Id="R5d8211c9fe2c4270" /><Relationship Type="http://schemas.openxmlformats.org/officeDocument/2006/relationships/slide" Target="/ppt/slides/slide10.xml" Id="R8060e18afdd7432b" /><Relationship Type="http://schemas.openxmlformats.org/officeDocument/2006/relationships/slide" Target="/ppt/slides/slide11.xml" Id="R6c597fb9ef584516" /><Relationship Type="http://schemas.openxmlformats.org/officeDocument/2006/relationships/slide" Target="/ppt/slides/slide12.xml" Id="Re3d6a8a0b1474a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dda94e0f4d4c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45d019eeb544ae" /><Relationship Type="http://schemas.openxmlformats.org/officeDocument/2006/relationships/notesMaster" Target="/ppt/notesMasters/notesMaster1.xml" Id="R7b44c2c3e08649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866d8815e84138" /><Relationship Type="http://schemas.openxmlformats.org/officeDocument/2006/relationships/notesMaster" Target="/ppt/notesMasters/notesMaster1.xml" Id="R5e5b0e59262e49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8672c91ace48e5" /><Relationship Type="http://schemas.openxmlformats.org/officeDocument/2006/relationships/notesMaster" Target="/ppt/notesMasters/notesMaster1.xml" Id="R6dd16298349446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368252d9384cea" /><Relationship Type="http://schemas.openxmlformats.org/officeDocument/2006/relationships/notesMaster" Target="/ppt/notesMasters/notesMaster1.xml" Id="R53e8e8e5c7f34b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790fbd07724a39" /><Relationship Type="http://schemas.openxmlformats.org/officeDocument/2006/relationships/notesMaster" Target="/ppt/notesMasters/notesMaster1.xml" Id="Rc15f0f6cc73146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bc85052f3e4a4e" /><Relationship Type="http://schemas.openxmlformats.org/officeDocument/2006/relationships/notesMaster" Target="/ppt/notesMasters/notesMaster1.xml" Id="R71d72396a21144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640ed94fb04203" /><Relationship Type="http://schemas.openxmlformats.org/officeDocument/2006/relationships/notesMaster" Target="/ppt/notesMasters/notesMaster1.xml" Id="R8e6eebc7d3e54f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4630e6b1e74a88" /><Relationship Type="http://schemas.openxmlformats.org/officeDocument/2006/relationships/notesMaster" Target="/ppt/notesMasters/notesMaster1.xml" Id="R0368207e34e24e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2a5622ea7e4430" /><Relationship Type="http://schemas.openxmlformats.org/officeDocument/2006/relationships/notesMaster" Target="/ppt/notesMasters/notesMaster1.xml" Id="R2f54edb70efd47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508c5f1d154756" /><Relationship Type="http://schemas.openxmlformats.org/officeDocument/2006/relationships/notesMaster" Target="/ppt/notesMasters/notesMaster1.xml" Id="Re7749759bd2b4e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794539be0d4d00" /><Relationship Type="http://schemas.openxmlformats.org/officeDocument/2006/relationships/notesMaster" Target="/ppt/notesMasters/notesMaster1.xml" Id="Rb000d3754e5a45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96fd167e9a4005" /><Relationship Type="http://schemas.openxmlformats.org/officeDocument/2006/relationships/notesMaster" Target="/ppt/notesMasters/notesMaster1.xml" Id="R9217a11187d847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Generated visual: project asset .tmp/rehab-infographic/assets/rehab-hero.png</a:t>
            </a:r>
          </a:p>
          <a:p xmlns:a="http://schemas.openxmlformats.org/drawingml/2006/main">
            <a:r>
              <a:t>Local evidence atlas: docs/pubmed-detailed-evidence-atlas.md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https://pubmed.ncbi.nlm.nih.gov/38325873/</a:t>
            </a:r>
          </a:p>
          <a:p xmlns:a="http://schemas.openxmlformats.org/drawingml/2006/main">
            <a:r>
              <a:t>https://pubmed.ncbi.nlm.nih.gov/41253410/</a:t>
            </a:r>
          </a:p>
          <a:p xmlns:a="http://schemas.openxmlformats.org/drawingml/2006/main">
            <a:r>
              <a:t>https://pubmed.ncbi.nlm.nih.gov/35489367/</a:t>
            </a:r>
          </a:p>
          <a:p xmlns:a="http://schemas.openxmlformats.org/drawingml/2006/main">
            <a:r>
              <a:t>https://pubmed.ncbi.nlm.nih.gov/36191860/</a:t>
            </a:r>
          </a:p>
          <a:p xmlns:a="http://schemas.openxmlformats.org/drawingml/2006/main">
            <a:r>
              <a:t>https://pubmed.ncbi.nlm.nih.gov/41906071/</a:t>
            </a:r>
          </a:p>
          <a:p xmlns:a="http://schemas.openxmlformats.org/drawingml/2006/main">
            <a:r>
              <a:t>https://pubmed.ncbi.nlm.nih.gov/39425012/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Editorial confidence profile, not a formal GRADE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https://pubmed.ncbi.nlm.nih.gov/38325873/</a:t>
            </a:r>
          </a:p>
          <a:p xmlns:a="http://schemas.openxmlformats.org/drawingml/2006/main">
            <a:r>
              <a:t>https://pubmed.ncbi.nlm.nih.gov/35489367/</a:t>
            </a:r>
          </a:p>
          <a:p xmlns:a="http://schemas.openxmlformats.org/drawingml/2006/main">
            <a:r>
              <a:t>https://pubmed.ncbi.nlm.nih.gov/36191860/</a:t>
            </a:r>
          </a:p>
          <a:p xmlns:a="http://schemas.openxmlformats.org/drawingml/2006/main">
            <a:r>
              <a:t>https://pubmed.ncbi.nlm.nih.gov/41253410/</a:t>
            </a:r>
          </a:p>
          <a:p xmlns:a="http://schemas.openxmlformats.org/drawingml/2006/main">
            <a:r>
              <a:t>https://pubmed.ncbi.nlm.nih.gov/39425012/</a:t>
            </a:r>
          </a:p>
          <a:p xmlns:a="http://schemas.openxmlformats.org/drawingml/2006/main">
            <a:r>
              <a:t>https://pubmed.ncbi.nlm.nih.gov/41906071/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Interventions and comparators checked against the local evidence atlas or evidence-bank record and primary PubMed/PMC reports. Respiratory-muscle paper: PMID 36191860, PMCID PMC9708524.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https://pmc.ncbi.nlm.nih.gov/articles/PMC11134408/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REGAIN tested the multicomponent package against best-practice usual care, not against no treatment.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https://pubmed.ncbi.nlm.nih.gov/38325873/</a:t>
            </a:r>
          </a:p>
          <a:p xmlns:a="http://schemas.openxmlformats.org/drawingml/2006/main">
            <a:r>
              <a:t>https://pubmed.ncbi.nlm.nih.gov/35489367/</a:t>
            </a:r>
          </a:p>
          <a:p xmlns:a="http://schemas.openxmlformats.org/drawingml/2006/main">
            <a:r>
              <a:t>https://pubmed.ncbi.nlm.nih.gov/36191860/</a:t>
            </a:r>
          </a:p>
          <a:p xmlns:a="http://schemas.openxmlformats.org/drawingml/2006/main">
            <a:r>
              <a:t>https://pubmed.ncbi.nlm.nih.gov/41253410/</a:t>
            </a:r>
          </a:p>
          <a:p xmlns:a="http://schemas.openxmlformats.org/drawingml/2006/main">
            <a:r>
              <a:t>https://pubmed.ncbi.nlm.nih.gov/39425012/</a:t>
            </a:r>
          </a:p>
          <a:p xmlns:a="http://schemas.openxmlformats.org/drawingml/2006/main">
            <a:r>
              <a:t>https://pubmed.ncbi.nlm.nih.gov/41906071/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Matrix is a qualitative direction-of-effect summary. Heterogeneous measures were not pooled.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https://pmc.ncbi.nlm.nih.gov/articles/PMC10593321/</a:t>
            </a:r>
          </a:p>
          <a:p xmlns:a="http://schemas.openxmlformats.org/drawingml/2006/main">
            <a:r>
              <a:t>https://pmc.ncbi.nlm.nih.gov/articles/PMC11134408/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trial did not isolate any activity or behavioural component.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https://pmc.ncbi.nlm.nih.gov/articles/PMC10593321/</a:t>
            </a:r>
          </a:p>
          <a:p xmlns:a="http://schemas.openxmlformats.org/drawingml/2006/main">
            <a:r>
              <a:t>https://pubmed.ncbi.nlm.nih.gov/38177128/</a:t>
            </a:r>
          </a:p>
          <a:p xmlns:a="http://schemas.openxmlformats.org/drawingml/2006/main">
            <a:r>
              <a:t>https://pubmed.ncbi.nlm.nih.gov/38346773/</a:t>
            </a:r>
          </a:p>
          <a:p xmlns:a="http://schemas.openxmlformats.org/drawingml/2006/main">
            <a:r>
              <a:t>https://pubmed.ncbi.nlm.nih.gov/38066589/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three pathways are the rehabilitation rationale, not experimentally isolated mechanisms. Rehabilitation is not proven to repair the underlying Long COVID biology.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https://pmc.ncbi.nlm.nih.gov/articles/PMC11134408/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Observed 3-month means were 0.27 and 0.23; the adjusted between-group estimate was 0.03, 95% CI 0.01 to 0.05. The confidence interval is uncertainty around the average estimate, not a range of individual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https://pubmed.ncbi.nlm.nih.gov/38325873/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REGAIN reported adverse events in 28 intervention and 16 usual-care participants, serious adverse events in 14 versus 7, one serious event possibly related, and no detected PESE during prospective monitoring.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https://pmc.ncbi.nlm.nih.gov/articles/PMC12636949/</a:t>
            </a:r>
          </a:p>
          <a:p xmlns:a="http://schemas.openxmlformats.org/drawingml/2006/main">
            <a:r>
              <a:t>https://pubmed.ncbi.nlm.nih.gov/38325873/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Patient conversation guide synthesized from trial limitations. It is not an individualized prescription.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atlas: docs/pubmed-detailed-evidence-atlas.md</a:t>
            </a:r>
          </a:p>
          <a:p xmlns:a="http://schemas.openxmlformats.org/drawingml/2006/main">
            <a:r>
              <a:t>https://pubmed.ncbi.nlm.nih.gov/38325873/</a:t>
            </a:r>
          </a:p>
          <a:p xmlns:a="http://schemas.openxmlformats.org/drawingml/2006/main">
            <a:r>
              <a:t>https://pubmed.ncbi.nlm.nih.gov/35489367/</a:t>
            </a:r>
          </a:p>
          <a:p xmlns:a="http://schemas.openxmlformats.org/drawingml/2006/main">
            <a:r>
              <a:t>https://pubmed.ncbi.nlm.nih.gov/36191860/</a:t>
            </a:r>
          </a:p>
          <a:p xmlns:a="http://schemas.openxmlformats.org/drawingml/2006/main">
            <a:r>
              <a:t>https://pubmed.ncbi.nlm.nih.gov/41253410/</a:t>
            </a:r>
          </a:p>
          <a:p xmlns:a="http://schemas.openxmlformats.org/drawingml/2006/main">
            <a:r>
              <a:t>https://pubmed.ncbi.nlm.nih.gov/39425012/</a:t>
            </a:r>
          </a:p>
          <a:p xmlns:a="http://schemas.openxmlformats.org/drawingml/2006/main">
            <a:r>
              <a:t>https://pubmed.ncbi.nlm.nih.gov/41906071/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REGAIN supports the complete multicomponent package in its selected post-hospital population. It does not isolate exercise, psychological support, mindfulness, peer contact or supervision and does not test TCM theory or treatments.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https://pubmed.ncbi.nlm.nih.gov/38325873/</a:t>
            </a:r>
          </a:p>
          <a:p xmlns:a="http://schemas.openxmlformats.org/drawingml/2006/main">
            <a:r>
              <a:t>https://pubmed.ncbi.nlm.nih.gov/35489367/</a:t>
            </a:r>
          </a:p>
          <a:p xmlns:a="http://schemas.openxmlformats.org/drawingml/2006/main">
            <a:r>
              <a:t>https://pubmed.ncbi.nlm.nih.gov/36191860/</a:t>
            </a:r>
          </a:p>
          <a:p xmlns:a="http://schemas.openxmlformats.org/drawingml/2006/main">
            <a:r>
              <a:t>https://pubmed.ncbi.nlm.nih.gov/41253410/</a:t>
            </a:r>
          </a:p>
          <a:p xmlns:a="http://schemas.openxmlformats.org/drawingml/2006/main">
            <a:r>
              <a:t>https://pubmed.ncbi.nlm.nih.gov/39425012/</a:t>
            </a:r>
          </a:p>
          <a:p xmlns:a="http://schemas.openxmlformats.org/drawingml/2006/main">
            <a:r>
              <a:t>https://pubmed.ncbi.nlm.nih.gov/41906071/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displayed excerpt is a short verbatim passage from the corresponding PubMed abstract.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61dbab09043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1c299c834946c4" /><Relationship Type="http://schemas.openxmlformats.org/officeDocument/2006/relationships/slideLayout" Target="/ppt/slideLayouts/slideLayout1.xml" Id="R134f96599f4743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4f96599f4743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274fd1d1644df" /><Relationship Type="http://schemas.openxmlformats.org/officeDocument/2006/relationships/image" Target="/ppt/media/image.png" Id="Rb39d61b466df4139" /><Relationship Type="http://schemas.openxmlformats.org/officeDocument/2006/relationships/notesSlide" Target="/ppt/notesSlides/notesSlide1.xml" Id="Rc1583ee95bff46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49691ceab419a" /><Relationship Type="http://schemas.openxmlformats.org/officeDocument/2006/relationships/notesSlide" Target="/ppt/notesSlides/notesSlide2.xml" Id="R21ae407a395043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e16cb072e4590" /><Relationship Type="http://schemas.openxmlformats.org/officeDocument/2006/relationships/notesSlide" Target="/ppt/notesSlides/notesSlide3.xml" Id="Ra4800180c8814e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453787bff44ae" /><Relationship Type="http://schemas.openxmlformats.org/officeDocument/2006/relationships/notesSlide" Target="/ppt/notesSlides/notesSlide4.xml" Id="R71d2eeea32154b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8ed9a5b484709" /><Relationship Type="http://schemas.openxmlformats.org/officeDocument/2006/relationships/notesSlide" Target="/ppt/notesSlides/notesSlide5.xml" Id="R2c20c64d285a4b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ccc4f55f747cb" /><Relationship Type="http://schemas.openxmlformats.org/officeDocument/2006/relationships/notesSlide" Target="/ppt/notesSlides/notesSlide6.xml" Id="R4ca9d4a27b364f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71b68de364904" /><Relationship Type="http://schemas.openxmlformats.org/officeDocument/2006/relationships/notesSlide" Target="/ppt/notesSlides/notesSlide7.xml" Id="Rfd97282379ea4e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4187ecbb64821" /><Relationship Type="http://schemas.openxmlformats.org/officeDocument/2006/relationships/chart" Target="/ppt/slides/charts/chart1.xml" Id="R27a639a365b74d4b" /><Relationship Type="http://schemas.openxmlformats.org/officeDocument/2006/relationships/notesSlide" Target="/ppt/notesSlides/notesSlide8.xml" Id="R067f5d1e96c347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34c13617b4b3d" /><Relationship Type="http://schemas.openxmlformats.org/officeDocument/2006/relationships/notesSlide" Target="/ppt/notesSlides/notesSlide9.xml" Id="Ra02213a1d61245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c9ff592a3401e" /><Relationship Type="http://schemas.openxmlformats.org/officeDocument/2006/relationships/notesSlide" Target="/ppt/notesSlides/notesSlide10.xml" Id="R17634072aa5b4e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44bcf22194867" /><Relationship Type="http://schemas.openxmlformats.org/officeDocument/2006/relationships/notesSlide" Target="/ppt/notesSlides/notesSlide11.xml" Id="R27020f9b57524a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930d173574636" /><Relationship Type="http://schemas.openxmlformats.org/officeDocument/2006/relationships/hyperlink" Target="https://pubmed.ncbi.nlm.nih.gov/38325873/" TargetMode="External" Id="R762418f5206e468b" /><Relationship Type="http://schemas.openxmlformats.org/officeDocument/2006/relationships/hyperlink" Target="https://pubmed.ncbi.nlm.nih.gov/35489367/" TargetMode="External" Id="Rbb27f6bb206246df" /><Relationship Type="http://schemas.openxmlformats.org/officeDocument/2006/relationships/hyperlink" Target="https://pubmed.ncbi.nlm.nih.gov/36191860/" TargetMode="External" Id="R5a96f8e23f774533" /><Relationship Type="http://schemas.openxmlformats.org/officeDocument/2006/relationships/hyperlink" Target="https://pubmed.ncbi.nlm.nih.gov/41253410/" TargetMode="External" Id="Rc833c6570b7b41cb" /><Relationship Type="http://schemas.openxmlformats.org/officeDocument/2006/relationships/hyperlink" Target="https://pubmed.ncbi.nlm.nih.gov/39425012/" TargetMode="External" Id="Rc883dc9cea9e4e91" /><Relationship Type="http://schemas.openxmlformats.org/officeDocument/2006/relationships/hyperlink" Target="https://pubmed.ncbi.nlm.nih.gov/41906071/" TargetMode="External" Id="R5a8ea3d1b35443a3" /><Relationship Type="http://schemas.openxmlformats.org/officeDocument/2006/relationships/notesSlide" Target="/ppt/notesSlides/notesSlide12.xml" Id="Rf5e62aa0871e4aa4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REGAIN</c:v>
          </c:tx>
          <c:spPr>
            <a:ln xmlns:a="http://schemas.openxmlformats.org/drawingml/2006/main" w="38100">
              <a:solidFill>
                <a:srgbClr val="0A7C78"/>
              </a:solidFill>
            </a:ln>
          </c:spPr>
          <c:marker>
            <c:size val="10"/>
          </c:marker>
          <c:cat>
            <c:strLit>
              <c:ptCount val="2"/>
              <c:pt idx="0">
                <c:v>Baseline</c:v>
              </c:pt>
              <c:pt idx="1">
                <c:v>3 months</c:v>
              </c:pt>
            </c:strLit>
          </c:cat>
          <c:val>
            <c:numLit>
              <c:formatCode>General</c:formatCode>
              <c:ptCount val="2"/>
              <c:pt idx="0">
                <c:v>0.2</c:v>
              </c:pt>
              <c:pt idx="1">
                <c:v>0.27</c:v>
              </c:pt>
            </c:numLit>
          </c:val>
        </c:ser>
        <c:ser>
          <c:idx val="1"/>
          <c:order val="1"/>
          <c:tx>
            <c:v>Usual care</c:v>
          </c:tx>
          <c:spPr>
            <a:ln xmlns:a="http://schemas.openxmlformats.org/drawingml/2006/main" w="38100">
              <a:solidFill>
                <a:srgbClr val="EF7F64"/>
              </a:solidFill>
            </a:ln>
          </c:spPr>
          <c:marker>
            <c:size val="10"/>
          </c:marker>
          <c:cat>
            <c:strLit>
              <c:ptCount val="2"/>
              <c:pt idx="0">
                <c:v>Baseline</c:v>
              </c:pt>
              <c:pt idx="1">
                <c:v>3 months</c:v>
              </c:pt>
            </c:strLit>
          </c:cat>
          <c:val>
            <c:numLit>
              <c:formatCode>General</c:formatCode>
              <c:ptCount val="2"/>
              <c:pt idx="0">
                <c:v>0.2</c:v>
              </c:pt>
              <c:pt idx="1">
                <c:v>0.23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6313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16313A"/>
                    </a:solidFill>
                  </a:rPr>
                  <a:t>Time after randomization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6313A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13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35"/>
          <c:min val="0.1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B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16313A"/>
                    </a:solidFill>
                  </a:rPr>
                  <a:t>PROPr quality-of-life score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6313A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7277"/>
                </a:solidFill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16313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d61b466df413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61503-D350-4A79-B8D9-695CFD36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2000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F7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4EFEF-0700-4112-8B9E-2DD97707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EVIDENCE INFOGRAPHIC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1D425-B857-4ED8-B0AA-153EE84D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Which rehabilitation evidence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carries the most weight?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FE9B0-B793-42EE-A013-9C0B6DD0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CE8"/>
                </a:solidFill>
              </a:defRPr>
            </a:pPr>
            <a:r>
              <a:rPr sz="1650" b="0">
                <a:solidFill>
                  <a:srgbClr val="DDECE8"/>
                </a:solidFill>
              </a:rPr>
              <a:t>Six trials point in different directions. REGAIN gives the clearest whole-programme test — then its small benefit needs careful interpretation.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4DAE0-A35F-4087-9217-2BB6C7B3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 selected RCTs  ·  985 participants  ·  6–12 weeks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7CE2A-684F-4ADC-9643-A46D31AB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7F64"/>
                </a:solidFill>
              </a:defRPr>
            </a:pPr>
            <a:r>
              <a:rPr sz="975" b="1">
                <a:solidFill>
                  <a:srgbClr val="EF7F64"/>
                </a:solidFill>
              </a:rPr>
              <a:t>Evidence checked 3 Aug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AAA01-AD79-4CEB-B53A-3F95E7DB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D5D5"/>
                </a:solidFill>
              </a:defRPr>
            </a:pPr>
            <a:r>
              <a:rPr sz="975" b="0">
                <a:solidFill>
                  <a:srgbClr val="B8D5D5"/>
                </a:solidFill>
              </a:rPr>
              <a:t>Not medical advice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94D3C-088C-4988-9591-CA7913F7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334125"/>
            <a:ext cx="1809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8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43CFD-1D62-488A-B921-49DE0825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35317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GENERATED ILLUSTRATION</a:t>
            </a:r>
          </a:p>
        </p:txBody>
      </p:sp>
    </p:spTree>
    <p:extLst>
      <p:ext uri="{BB962C8B-B14F-4D97-AF65-F5344CB8AC3E}">
        <p14:creationId xmlns:p14="http://schemas.microsoft.com/office/powerpoint/2010/main" val="3501165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9B1D74-7DB8-435E-B0B5-7929BCD2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C78"/>
                </a:solidFill>
              </a:defRPr>
            </a:pPr>
            <a:r>
              <a:rPr sz="1050" b="1">
                <a:solidFill>
                  <a:srgbClr val="0A7C78"/>
                </a:solidFill>
              </a:rPr>
              <a:t>HOW MUCH WEIGHT CAN EACH RESULT CARRY?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DDFA2D-E7E9-4DD8-95C9-B069CE6A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13A"/>
                </a:solidFill>
              </a:defRPr>
            </a:pPr>
            <a:r>
              <a:rPr sz="2700" b="1">
                <a:solidFill>
                  <a:srgbClr val="16313A"/>
                </a:solidFill>
              </a:rPr>
              <a:t>REGAIN is the strongest anchor—not proof of the ‘best’ rehabilitation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4D41B-AB6D-4F4B-80A5-D6D1A55C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6945B-E504-48C2-90B5-C10194B8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277"/>
                </a:solidFill>
              </a:defRPr>
            </a:pPr>
            <a:r>
              <a:rPr sz="900" b="0">
                <a:solidFill>
                  <a:srgbClr val="5F7277"/>
                </a:solidFill>
              </a:rPr>
              <a:t>Editorial appraisal · not formal GRADE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F13E2-4415-4D6F-8277-33D569DC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E7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E245F-4233-430C-814D-48FDE320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13A"/>
                </a:solidFill>
              </a:defRPr>
            </a:pPr>
            <a:r>
              <a:rPr sz="1350" b="1">
                <a:solidFill>
                  <a:srgbClr val="16313A"/>
                </a:solidFill>
              </a:rPr>
              <a:t>REGAIN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2CBF2-2A53-463E-808E-57541F43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1619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8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1A51F-7B92-40BB-851B-B59C229E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335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MODERATE–HIGH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F70C9-0ED0-48D4-951A-3103C000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19250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277"/>
                </a:solidFill>
              </a:defRPr>
            </a:pPr>
            <a:r>
              <a:rPr sz="1200" b="0">
                <a:solidFill>
                  <a:srgbClr val="5F7277"/>
                </a:solidFill>
              </a:rPr>
              <a:t>585 people · multicentre · active comparator · prespecified outcome · 12-month follow-up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CE82B-DA23-420B-B730-7937726E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DF870-2ABB-4B6C-B2D1-44FD9BEB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13A"/>
                </a:solidFill>
              </a:defRPr>
            </a:pPr>
            <a:r>
              <a:rPr sz="1350" b="1">
                <a:solidFill>
                  <a:srgbClr val="16313A"/>
                </a:solidFill>
              </a:rPr>
              <a:t>PuRe-COVID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84827-C563-4864-BDF8-63C135C8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1619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BFE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4E805-D9C5-4C35-BF7A-B1847B04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479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MODERATE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3E6C9-6E15-43C4-AF01-E1DF8741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33625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277"/>
                </a:solidFill>
              </a:defRPr>
            </a:pPr>
            <a:r>
              <a:rPr sz="1200" b="0">
                <a:solidFill>
                  <a:srgbClr val="5F7277"/>
                </a:solidFill>
              </a:rPr>
              <a:t>Objective walking endpoint; 76 people and stopped before planned sample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77D19-8368-441A-8D1D-4E89DCF0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37FAE-C702-497C-AD75-7A9F2267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13A"/>
                </a:solidFill>
              </a:defRPr>
            </a:pPr>
            <a:r>
              <a:rPr sz="1350" b="1">
                <a:solidFill>
                  <a:srgbClr val="16313A"/>
                </a:solidFill>
              </a:rPr>
              <a:t>ENO Breathe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27709-1F0E-4C93-BE6C-3EAA1847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619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BFE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79274-2C35-4384-B718-0318ED61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62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MODERATE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4C506B-25E9-4B62-8F3B-5F0ABF7E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48000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277"/>
                </a:solidFill>
              </a:defRPr>
            </a:pPr>
            <a:r>
              <a:rPr sz="1200" b="0">
                <a:solidFill>
                  <a:srgbClr val="5F7277"/>
                </a:solidFill>
              </a:rPr>
              <a:t>150 people; mental quality-of-life signal, but physical result inconclusive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FF1FB-2A59-4B8C-82B8-CC7DEEA8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D3163-1EFA-428F-919B-0AFA1454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13A"/>
                </a:solidFill>
              </a:defRPr>
            </a:pPr>
            <a:r>
              <a:rPr sz="1350" b="1">
                <a:solidFill>
                  <a:srgbClr val="16313A"/>
                </a:solidFill>
              </a:rPr>
              <a:t>Respiratory muscle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3A84FF-A671-48DB-AF44-4EDC173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57625"/>
            <a:ext cx="1619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D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D7748B-BA57-4964-A134-5C752F08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766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MODERATE–LOW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96F914-D7EE-4A35-8DB1-F80AA234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62375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277"/>
                </a:solidFill>
              </a:defRPr>
            </a:pPr>
            <a:r>
              <a:rPr sz="1200" b="0">
                <a:solidFill>
                  <a:srgbClr val="5F7277"/>
                </a:solidFill>
              </a:rPr>
              <a:t>Sham comparison; 88 people split across four small arms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EF77BD-3AAD-41A2-B966-EB49DCC6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9C2D-1B70-4C36-A9EF-093E2F03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13A"/>
                </a:solidFill>
              </a:defRPr>
            </a:pPr>
            <a:r>
              <a:rPr sz="1350" b="1">
                <a:solidFill>
                  <a:srgbClr val="16313A"/>
                </a:solidFill>
              </a:rPr>
              <a:t>Inspiratory strength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C89FF2-2D22-45A2-A400-70A9BDD0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1619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D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A2505F-8289-4CCF-ACC3-592F4D99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91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MODERATE–LOW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105488-5CCE-4718-876D-74FA73EC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476750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277"/>
                </a:solidFill>
              </a:defRPr>
            </a:pPr>
            <a:r>
              <a:rPr sz="1200" b="0">
                <a:solidFill>
                  <a:srgbClr val="5F7277"/>
                </a:solidFill>
              </a:rPr>
              <a:t>Triple-blind; only 40 people and no long-term follow-up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034FF8-FE3A-4C84-990D-F8798F58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7D3DB6-ED4B-48CD-8EB3-5014847B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13A"/>
                </a:solidFill>
              </a:defRPr>
            </a:pPr>
            <a:r>
              <a:rPr sz="1350" b="1">
                <a:solidFill>
                  <a:srgbClr val="16313A"/>
                </a:solidFill>
              </a:rPr>
              <a:t>Breathing + mobility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DBE28D-B88E-4A1A-9C60-BC11A621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1619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F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6CF255-D7F1-4856-8951-6860CA54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3054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LOW–MODERATE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1C1EE8-FCF4-4CA5-9DE2-78D7F527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191125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277"/>
                </a:solidFill>
              </a:defRPr>
            </a:pPr>
            <a:r>
              <a:rPr sz="1200" b="0">
                <a:solidFill>
                  <a:srgbClr val="5F7277"/>
                </a:solidFill>
              </a:rPr>
              <a:t>46 people; both groups also received cardiac rehabilitation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55E174-D444-4B46-BCC0-EDD9E425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816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9F2E22-7944-4520-98FA-3CCC9D44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007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7277"/>
                </a:solidFill>
              </a:defRPr>
            </a:pPr>
            <a:r>
              <a:rPr sz="1200" b="0">
                <a:solidFill>
                  <a:srgbClr val="5F7277"/>
                </a:solidFill>
              </a:rPr>
              <a:t>Confidence reflects design, comparator, precision, outcome and applicability—not the apparent size of one statistic.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39BBCA-D1A3-42F8-BCCA-9C4E1F7A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277"/>
                </a:solidFill>
              </a:defRPr>
            </a:pPr>
            <a:r>
              <a:rPr sz="900" b="0">
                <a:solidFill>
                  <a:srgbClr val="5F7277"/>
                </a:solidFill>
              </a:rPr>
              <a:t>Long COVID rehabilitation evidence · Interim snapshot · 3 Aug 2026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00FCAC-BAF0-4C16-AAE7-43086AA5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313A"/>
                </a:solidFill>
              </a:defRPr>
            </a:pPr>
            <a:r>
              <a:rPr sz="900" b="1">
                <a:solidFill>
                  <a:srgbClr val="16313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17941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45C2AF7-820F-40DF-AF4E-01F0536D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C78"/>
                </a:solidFill>
              </a:defRPr>
            </a:pPr>
            <a:r>
              <a:rPr sz="1050" b="1">
                <a:solidFill>
                  <a:srgbClr val="0A7C78"/>
                </a:solidFill>
              </a:rPr>
              <a:t>SIX DIFFERENT REHABILITATION HYPOTHESES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E3AA44-3C67-45E4-923B-FA95B4D7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13A"/>
                </a:solidFill>
              </a:defRPr>
            </a:pPr>
            <a:r>
              <a:rPr sz="2700" b="1">
                <a:solidFill>
                  <a:srgbClr val="16313A"/>
                </a:solidFill>
              </a:rPr>
              <a:t>What did each study actually ask participants to do?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0FC5A-4CA5-4258-89E7-63007A5F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5853A-1B5D-4E78-BAA9-BE6FC9AE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D3283-3977-405D-9166-C72F42C7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STUDY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CBA65-B2EA-4C4C-B790-8CA59965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6573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75B0F-6548-4583-833D-28732EC1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145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WHAT THE PROGRAMME DID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3FFE9-65EB-4277-8C5B-FF5D3777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573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33BAC-8877-4C19-96A3-2E450CC4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14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70578-9A4D-48F3-8D12-76BAA1B2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57350"/>
            <a:ext cx="2152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0FC20-6383-4263-AF9B-B72829AD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145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MAIN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4401F-80E8-44C1-AB88-56758545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A29B9-070D-4292-A55B-0C4E5913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C78"/>
                </a:solidFill>
              </a:defRPr>
            </a:pPr>
            <a:r>
              <a:rPr sz="1050" b="1">
                <a:solidFill>
                  <a:srgbClr val="0A7C78"/>
                </a:solidFill>
              </a:rPr>
              <a:t>REGAIN · 8w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9ACA5-51FB-4DC9-81B5-B1AAF241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145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9721A-8700-4085-91F9-D078C2E5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8122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13A"/>
                </a:solidFill>
              </a:defRPr>
            </a:pPr>
            <a:r>
              <a:rPr sz="975" b="0">
                <a:solidFill>
                  <a:srgbClr val="16313A"/>
                </a:solidFill>
              </a:rPr>
              <a:t>Online supervised exercise + 6 behavioural-support groups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4025C-8B48-4BEF-8E1E-234BCD0B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145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E213F-F209-499A-A50F-262013F1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81225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13A"/>
                </a:solidFill>
              </a:defRPr>
            </a:pPr>
            <a:r>
              <a:rPr sz="975" b="0">
                <a:solidFill>
                  <a:srgbClr val="16313A"/>
                </a:solidFill>
              </a:rPr>
              <a:t>Consultation + booklet + advice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9991A-44F0-4F28-8A20-E1018FDF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14550"/>
            <a:ext cx="2152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FDC04-64C9-4A63-8DB6-F57ED8B4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8122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277"/>
                </a:solidFill>
              </a:defRPr>
            </a:pPr>
            <a:r>
              <a:rPr sz="975" b="0">
                <a:solidFill>
                  <a:srgbClr val="5F7277"/>
                </a:solidFill>
              </a:rPr>
              <a:t>Overall quality of life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D7FF2-EEA6-453C-850E-F60983B0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A08BAD-6D62-4DAA-BDAF-6AFCD847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C78"/>
                </a:solidFill>
              </a:defRPr>
            </a:pPr>
            <a:r>
              <a:rPr sz="1050" b="1">
                <a:solidFill>
                  <a:srgbClr val="0A7C78"/>
                </a:solidFill>
              </a:rPr>
              <a:t>ENO Breathe · 6w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9F841A-78DD-486C-823F-A891E1CF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813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4B5AF-BE3E-4107-BAFE-81643A65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4797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13A"/>
                </a:solidFill>
              </a:defRPr>
            </a:pPr>
            <a:r>
              <a:rPr sz="975" b="0">
                <a:solidFill>
                  <a:srgbClr val="16313A"/>
                </a:solidFill>
              </a:rPr>
              <a:t>Weekly breathing retraining, singing and wellbeing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F0C300-7479-40C4-9447-81365E14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813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611014-1BA5-4816-80F1-C991CD1B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47975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13A"/>
                </a:solidFill>
              </a:defRPr>
            </a:pPr>
            <a:r>
              <a:rPr sz="975" b="0">
                <a:solidFill>
                  <a:srgbClr val="16313A"/>
                </a:solidFill>
              </a:rPr>
              <a:t>Usual care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EE2897-893B-4A60-A3DE-C4952508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2152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AA4E2E-2316-4EBF-91DB-5D13CD0B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4797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277"/>
                </a:solidFill>
              </a:defRPr>
            </a:pPr>
            <a:r>
              <a:rPr sz="975" b="0">
                <a:solidFill>
                  <a:srgbClr val="5F7277"/>
                </a:solidFill>
              </a:rPr>
              <a:t>Breathlessness + quality of life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C743B5-8728-4A66-A564-5EAACBF7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80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B96627-464F-4DD3-B398-F07D1545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C78"/>
                </a:solidFill>
              </a:defRPr>
            </a:pPr>
            <a:r>
              <a:rPr sz="1050" b="1">
                <a:solidFill>
                  <a:srgbClr val="0A7C78"/>
                </a:solidFill>
              </a:rPr>
              <a:t>Resp. muscle · 8w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48918B-6CF5-4AA0-A46B-D127A7C1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480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14CAA4-780A-45AC-97F0-6228E368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1472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13A"/>
                </a:solidFill>
              </a:defRPr>
            </a:pPr>
            <a:r>
              <a:rPr sz="975" b="0">
                <a:solidFill>
                  <a:srgbClr val="16313A"/>
                </a:solidFill>
              </a:rPr>
              <a:t>Inspiratory-only or combined loading · 40 min/day, 6 days/week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31FCAF-09C9-41ED-B24B-69AD3BC6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480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6749B9-2108-483E-A475-5355FBCB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14725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13A"/>
                </a:solidFill>
              </a:defRPr>
            </a:pPr>
            <a:r>
              <a:rPr sz="975" b="0">
                <a:solidFill>
                  <a:srgbClr val="16313A"/>
                </a:solidFill>
              </a:rPr>
              <a:t>Matched sham devices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7AD824-2389-43EA-9DB2-D5662C6F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48050"/>
            <a:ext cx="2152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2F4184-41C6-4525-A400-A7FDF4A4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1472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277"/>
                </a:solidFill>
              </a:defRPr>
            </a:pPr>
            <a:r>
              <a:rPr sz="975" b="0">
                <a:solidFill>
                  <a:srgbClr val="5F7277"/>
                </a:solidFill>
              </a:rPr>
              <a:t>Respiratory strength + quality of life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6CB22B-F85F-4050-986C-4FDC228A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148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B55C33-F1AB-47A0-9624-B317BD81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C78"/>
                </a:solidFill>
              </a:defRPr>
            </a:pPr>
            <a:r>
              <a:rPr sz="1050" b="1">
                <a:solidFill>
                  <a:srgbClr val="0A7C78"/>
                </a:solidFill>
              </a:rPr>
              <a:t>PuRe-COVID · 12w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5E0338-498C-487D-9F58-660E2637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148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E1EE1F-3BA6-4CF9-88BA-33D9E8E7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8147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13A"/>
                </a:solidFill>
              </a:defRPr>
            </a:pPr>
            <a:r>
              <a:rPr sz="975" b="0">
                <a:solidFill>
                  <a:srgbClr val="16313A"/>
                </a:solidFill>
              </a:rPr>
              <a:t>36 individualized primary-care pulmonary-rehab sessions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C7CF91-E7CB-40E1-9DDF-77458BA3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148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49F546-E845-470D-B6CA-CECD2B37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81475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13A"/>
                </a:solidFill>
              </a:defRPr>
            </a:pPr>
            <a:r>
              <a:rPr sz="975" b="0">
                <a:solidFill>
                  <a:srgbClr val="16313A"/>
                </a:solidFill>
              </a:rPr>
              <a:t>No rehabilitation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75C080-64BD-44FD-9660-BEB4C7E1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14800"/>
            <a:ext cx="2152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1CBAD0-982F-4EE8-BD82-4CE82362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8147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277"/>
                </a:solidFill>
              </a:defRPr>
            </a:pPr>
            <a:r>
              <a:rPr sz="975" b="0">
                <a:solidFill>
                  <a:srgbClr val="5F7277"/>
                </a:solidFill>
              </a:rPr>
              <a:t>Walking + fatigue + breathlessness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61C493-89F2-4BD1-815A-DC1377F4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886E69-5E4E-46C2-AF4D-DFF5476B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C78"/>
                </a:solidFill>
              </a:defRPr>
            </a:pPr>
            <a:r>
              <a:rPr sz="1050" b="1">
                <a:solidFill>
                  <a:srgbClr val="0A7C78"/>
                </a:solidFill>
              </a:rPr>
              <a:t>Breathing + mobility · 12w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8C4020-3222-408E-A8BC-015626CF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815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B6929D-A050-4D2A-949E-70E23311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4822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13A"/>
                </a:solidFill>
              </a:defRPr>
            </a:pPr>
            <a:r>
              <a:rPr sz="975" b="0">
                <a:solidFill>
                  <a:srgbClr val="16313A"/>
                </a:solidFill>
              </a:rPr>
              <a:t>Breathing and chest-mobility add-on · 3 times/week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4F7B72-27E9-486C-AA9A-3ECED347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815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7A32B1-4322-4E27-B1E0-BF3386BD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48225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13A"/>
                </a:solidFill>
              </a:defRPr>
            </a:pPr>
            <a:r>
              <a:rPr sz="975" b="0">
                <a:solidFill>
                  <a:srgbClr val="16313A"/>
                </a:solidFill>
              </a:rPr>
              <a:t>Cardiac rehabilitation alone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B1C2AA-8146-4609-B47E-6E535DB2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781550"/>
            <a:ext cx="2152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F7E346-F943-47B6-88E1-DC677B3E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4822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277"/>
                </a:solidFill>
              </a:defRPr>
            </a:pPr>
            <a:r>
              <a:rPr sz="975" b="0">
                <a:solidFill>
                  <a:srgbClr val="5F7277"/>
                </a:solidFill>
              </a:rPr>
              <a:t>Walking + respiratory performance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C9D085-3CFD-4091-9D47-AACAE2F9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483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0645AD-7FCC-4213-8F05-9728EA93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14975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C78"/>
                </a:solidFill>
              </a:defRPr>
            </a:pPr>
            <a:r>
              <a:rPr sz="1050" b="1">
                <a:solidFill>
                  <a:srgbClr val="0A7C78"/>
                </a:solidFill>
              </a:rPr>
              <a:t>Inspiratory strength · 8w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43309F-012B-4640-BBDA-25062DFD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483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A8B90E-AAC8-4C6A-961C-E626C623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51497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13A"/>
                </a:solidFill>
              </a:defRPr>
            </a:pPr>
            <a:r>
              <a:rPr sz="975" b="0">
                <a:solidFill>
                  <a:srgbClr val="16313A"/>
                </a:solidFill>
              </a:rPr>
              <a:t>Threshold inspiratory training + weekly supervision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BE30C5-64AB-4609-BCE1-92F4C9F0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4483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07A368D-8407-489C-80CA-6FB3BF2C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514975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13A"/>
                </a:solidFill>
              </a:defRPr>
            </a:pPr>
            <a:r>
              <a:rPr sz="975" b="0">
                <a:solidFill>
                  <a:srgbClr val="16313A"/>
                </a:solidFill>
              </a:rPr>
              <a:t>Breathing exercise + telephone follow-up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0DB85C-C6C9-4AEB-8EC5-E99C6B32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448300"/>
            <a:ext cx="2152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E289773-E4D4-4956-A8C0-3FE66488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1497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277"/>
                </a:solidFill>
              </a:defRPr>
            </a:pPr>
            <a:r>
              <a:rPr sz="975" b="0">
                <a:solidFill>
                  <a:srgbClr val="5F7277"/>
                </a:solidFill>
              </a:rPr>
              <a:t>Walking + fatigue + dyspnoea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B2E187F-1FF7-404B-82DB-9426646B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277"/>
                </a:solidFill>
              </a:defRPr>
            </a:pPr>
            <a:r>
              <a:rPr sz="900" b="0">
                <a:solidFill>
                  <a:srgbClr val="5F7277"/>
                </a:solidFill>
              </a:rPr>
              <a:t>Long COVID rehabilitation evidence · Interim snapshot · 3 Aug 2026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BBE7116-45BF-475C-97DE-43ABAFED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313A"/>
                </a:solidFill>
              </a:defRPr>
            </a:pPr>
            <a:r>
              <a:rPr sz="900" b="1">
                <a:solidFill>
                  <a:srgbClr val="16313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4699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4BF14-C4D9-4282-BD8F-86F4CFFD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C78"/>
                </a:solidFill>
              </a:defRPr>
            </a:pPr>
            <a:r>
              <a:rPr sz="1050" b="1">
                <a:solidFill>
                  <a:srgbClr val="0A7C78"/>
                </a:solidFill>
              </a:rPr>
              <a:t>WHAT DID THE TRIAL ACTUALLY COMPARE?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7B2EAB-6B72-4A35-BBCD-8408708A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13A"/>
                </a:solidFill>
              </a:defRPr>
            </a:pPr>
            <a:r>
              <a:rPr sz="2700" b="1">
                <a:solidFill>
                  <a:srgbClr val="16313A"/>
                </a:solidFill>
              </a:rPr>
              <a:t>REGAIN tested added structured support—not rehabilitation versus nothing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0DC93-7230-4A72-8333-361E0B07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8DC4C-F48A-40C0-B9A3-F14C9FCE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52578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82B3A"/>
          </a:solidFill>
          <a:ln xmlns:a="http://schemas.openxmlformats.org/drawingml/2006/main" w="9525">
            <a:solidFill>
              <a:srgbClr val="082B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BB241-DC14-43B1-859F-AC1F4F2D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F7F64"/>
                </a:solidFill>
              </a:defRPr>
            </a:pPr>
            <a:r>
              <a:rPr sz="1275" b="1">
                <a:solidFill>
                  <a:srgbClr val="EF7F64"/>
                </a:solidFill>
              </a:rPr>
              <a:t>REGAIN · n=298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ACD62-17B5-4D2F-93CB-7837868C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61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Eight-week rehabilitation package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955BA-28B9-455B-82CF-E985850D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52750"/>
            <a:ext cx="45243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CE8"/>
                </a:solidFill>
              </a:defRPr>
            </a:pPr>
            <a:r>
              <a:rPr sz="1275" b="0">
                <a:solidFill>
                  <a:srgbClr val="DDECE8"/>
                </a:solidFill>
              </a:rPr>
              <a:t>• 1-hour individual online assessment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DECE8"/>
                </a:solidFill>
              </a:defRPr>
            </a:pPr>
            <a:r>
              <a:rPr sz="1275" b="0">
                <a:solidFill>
                  <a:srgbClr val="DDECE8"/>
                </a:solidFill>
              </a:rPr>
              <a:t>• 8 weekly live supervised exercise groups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DECE8"/>
                </a:solidFill>
              </a:defRPr>
            </a:pPr>
            <a:r>
              <a:rPr sz="1275" b="0">
                <a:solidFill>
                  <a:srgbClr val="DDECE8"/>
                </a:solidFill>
              </a:rPr>
              <a:t>• 6 one-hour behavioural-support groups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DECE8"/>
                </a:solidFill>
              </a:defRPr>
            </a:pPr>
            <a:r>
              <a:rPr sz="1275" b="0">
                <a:solidFill>
                  <a:srgbClr val="DDECE8"/>
                </a:solidFill>
              </a:rPr>
              <a:t>• Workbook + recorded exercise, breathing and mindfulness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DECE8"/>
                </a:solidFill>
              </a:defRPr>
            </a:pPr>
            <a:r>
              <a:rPr sz="1275" b="0">
                <a:solidFill>
                  <a:srgbClr val="DDECE8"/>
                </a:solidFill>
              </a:rPr>
              <a:t>• Tailored and monitored by trained practitioners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497DE-7E02-427F-A123-58DD11B4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143500"/>
            <a:ext cx="457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A375C-B120-4B5D-A3BC-EE54D2B2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768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The complete package—not one component—was tested.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CBD26-F5B5-4BE1-941C-541448C0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52578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06D21-3361-41E2-88CF-CFFF82C7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5262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7C78"/>
                </a:solidFill>
              </a:defRPr>
            </a:pPr>
            <a:r>
              <a:rPr sz="1275" b="1">
                <a:solidFill>
                  <a:srgbClr val="0A7C78"/>
                </a:solidFill>
              </a:rPr>
              <a:t>USUAL CARE · n=287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86DFF-4481-4810-B04A-B94233CD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33625"/>
            <a:ext cx="461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13A"/>
                </a:solidFill>
              </a:defRPr>
            </a:pPr>
            <a:r>
              <a:rPr sz="1950" b="1">
                <a:solidFill>
                  <a:srgbClr val="16313A"/>
                </a:solidFill>
              </a:rPr>
              <a:t>Brief active care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04624-152A-4CB1-9724-1C785167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52750"/>
            <a:ext cx="45243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13A"/>
                </a:solidFill>
              </a:defRPr>
            </a:pPr>
            <a:r>
              <a:rPr sz="1275" b="0">
                <a:solidFill>
                  <a:srgbClr val="16313A"/>
                </a:solidFill>
              </a:rPr>
              <a:t>• One 30-minute individual consultation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6313A"/>
                </a:solidFill>
              </a:defRPr>
            </a:pPr>
            <a:r>
              <a:rPr sz="1275" b="0">
                <a:solidFill>
                  <a:srgbClr val="16313A"/>
                </a:solidFill>
              </a:rPr>
              <a:t>• Discussion of symptoms and medical history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6313A"/>
                </a:solidFill>
              </a:defRPr>
            </a:pPr>
            <a:r>
              <a:rPr sz="1275" b="0">
                <a:solidFill>
                  <a:srgbClr val="16313A"/>
                </a:solidFill>
              </a:rPr>
              <a:t>• NHS recovery information booklet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6313A"/>
                </a:solidFill>
              </a:defRPr>
            </a:pPr>
            <a:r>
              <a:rPr sz="1275" b="0">
                <a:solidFill>
                  <a:srgbClr val="16313A"/>
                </a:solidFill>
              </a:rPr>
              <a:t>• General self-directed activity advice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6313A"/>
                </a:solidFill>
              </a:defRPr>
            </a:pPr>
            <a:r>
              <a:rPr sz="1275" b="0">
                <a:solidFill>
                  <a:srgbClr val="16313A"/>
                </a:solidFill>
              </a:rPr>
              <a:t>• No structured plan or psychological techniques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301DD-2E6F-4B00-B00D-26129828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143500"/>
            <a:ext cx="457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CC4D7-857C-46D3-97C1-89B759E3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2768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13A"/>
                </a:solidFill>
              </a:defRPr>
            </a:pPr>
            <a:r>
              <a:rPr sz="1125" b="1">
                <a:solidFill>
                  <a:srgbClr val="16313A"/>
                </a:solidFill>
              </a:rPr>
              <a:t>The comparator already included advice and support.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2BB81-0EFE-47D8-8B6E-7E95AA80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277"/>
                </a:solidFill>
              </a:defRPr>
            </a:pPr>
            <a:r>
              <a:rPr sz="900" b="0">
                <a:solidFill>
                  <a:srgbClr val="5F7277"/>
                </a:solidFill>
              </a:rPr>
              <a:t>Long COVID rehabilitation evidence · Interim snapshot · 3 Aug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E1EFA-DC30-4983-8076-11551B66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313A"/>
                </a:solidFill>
              </a:defRPr>
            </a:pPr>
            <a:r>
              <a:rPr sz="900" b="1">
                <a:solidFill>
                  <a:srgbClr val="16313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8728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5193A18-88E0-4F54-9E73-16D5F5D3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C78"/>
                </a:solidFill>
              </a:defRPr>
            </a:pPr>
            <a:r>
              <a:rPr sz="1050" b="1">
                <a:solidFill>
                  <a:srgbClr val="0A7C78"/>
                </a:solidFill>
              </a:rPr>
              <a:t>DIRECTION-OF-EFFECT MATRIX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AF8DA7-4818-4244-BF76-324D4958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13A"/>
                </a:solidFill>
              </a:defRPr>
            </a:pPr>
            <a:r>
              <a:rPr sz="2700" b="1">
                <a:solidFill>
                  <a:srgbClr val="16313A"/>
                </a:solidFill>
              </a:rPr>
              <a:t>Benefits are programme- and outcome-specific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A80DF-0A17-4372-B843-6182AC5D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E3D01-9ED5-46A7-8234-FDA73F94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F2454-E709-4306-AA9D-FF098028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Programme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11243-2ACA-4AFC-9B44-A7B5B4B7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90700"/>
            <a:ext cx="1476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CC5F0-27E5-4C66-A2A0-A85535C5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28800"/>
            <a:ext cx="1323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Functional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capacity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CB5C8-D830-480F-8170-00118FD6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790700"/>
            <a:ext cx="1666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95EAF-7D19-4981-A224-DE118C84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28800"/>
            <a:ext cx="1514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Breath /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dyspnoea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89FB7-245B-4D7D-8C7A-D6167BF2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1381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EC4F1-EC2A-456E-869B-B7B2742D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1228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Fatigue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4FC03-ABB3-44F8-A876-4F960C63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790700"/>
            <a:ext cx="1571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D7534-8CC7-49BD-9E7F-5273E393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28800"/>
            <a:ext cx="1419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Quality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of life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AC398-1719-441F-97AF-7C484577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90700"/>
            <a:ext cx="1571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9D726-E2FA-4B77-BFA6-0FAF1B2D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28800"/>
            <a:ext cx="1419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Respiratory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EFB13-1C68-44B6-828A-CBB31A1B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79A8E-1C1C-4CD3-9918-BBED10DB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2228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REGAIN</a:t>
            </a:r>
          </a:p>
          <a:p xmlns:a="http://schemas.openxmlformats.org/drawingml/2006/main">
            <a:pPr algn="l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vs usual care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78CC3-EA7E-4E78-9AE4-EFB7B64B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622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33A8A-A9B6-4A11-B70D-DC7804A6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90775"/>
            <a:ext cx="1323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C5C7"/>
                </a:solidFill>
              </a:defRPr>
            </a:pPr>
            <a:r>
              <a:rPr sz="1950" b="1">
                <a:solidFill>
                  <a:srgbClr val="B8C5C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D1678-0229-479D-9599-0E847A3E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62200"/>
            <a:ext cx="1666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4DDD81-5099-49CA-802D-80361E6D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90775"/>
            <a:ext cx="1514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C5C7"/>
                </a:solidFill>
              </a:defRPr>
            </a:pPr>
            <a:r>
              <a:rPr sz="1950" b="1">
                <a:solidFill>
                  <a:srgbClr val="B8C5C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FFAA4-8DD8-4B2C-A60D-F3F3BE06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E8FBD3-B38B-4D2D-91DF-56A557DA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90775"/>
            <a:ext cx="1228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7C78"/>
                </a:solidFill>
              </a:defRPr>
            </a:pPr>
            <a:r>
              <a:rPr sz="1950" b="1">
                <a:solidFill>
                  <a:srgbClr val="0A7C78"/>
                </a:solidFill>
              </a:rPr>
              <a:t>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FB0E5C-D3FD-4CB9-AE22-01060993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3622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4F3EE5-0752-456E-83B1-594B769B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90775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7C78"/>
                </a:solidFill>
              </a:defRPr>
            </a:pPr>
            <a:r>
              <a:rPr sz="1950" b="1">
                <a:solidFill>
                  <a:srgbClr val="0A7C78"/>
                </a:solidFill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30DFC4-38E1-4BC2-9E2D-3FFF6C1D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85CCCF-C516-41E9-A6B5-BA83A219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90775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C5C7"/>
                </a:solidFill>
              </a:defRPr>
            </a:pPr>
            <a:r>
              <a:rPr sz="1950" b="1">
                <a:solidFill>
                  <a:srgbClr val="B8C5C7"/>
                </a:solidFill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6E920D-DBDE-4D05-A108-8E7B5144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7EE887-774A-4B1F-9A47-5C59F66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2228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ENO Breathe</a:t>
            </a:r>
          </a:p>
          <a:p xmlns:a="http://schemas.openxmlformats.org/drawingml/2006/main">
            <a:pPr algn="l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vs usual care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1CDF86-062D-4660-8114-AF57F0CE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146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CFCCD2-13A2-49D4-9505-5448E483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43225"/>
            <a:ext cx="1323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C5C7"/>
                </a:solidFill>
              </a:defRPr>
            </a:pPr>
            <a:r>
              <a:rPr sz="1950" b="1">
                <a:solidFill>
                  <a:srgbClr val="B8C5C7"/>
                </a:solidFill>
              </a:rPr>
              <a:t>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ED0EBF-E031-4C9C-84E3-9B8040C4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14650"/>
            <a:ext cx="1666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D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A479A0-117A-4357-BF94-9DC852C8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43225"/>
            <a:ext cx="1514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B6B14"/>
                </a:solidFill>
              </a:defRPr>
            </a:pPr>
            <a:r>
              <a:rPr sz="1950" b="1">
                <a:solidFill>
                  <a:srgbClr val="9B6B14"/>
                </a:solidFill>
              </a:rPr>
              <a:t>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CA6155-B44C-4A67-8489-C1E7A7F0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146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935C97-2C63-4BCA-B191-79CCDC86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43225"/>
            <a:ext cx="1228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C5C7"/>
                </a:solidFill>
              </a:defRPr>
            </a:pPr>
            <a:r>
              <a:rPr sz="1950" b="1">
                <a:solidFill>
                  <a:srgbClr val="B8C5C7"/>
                </a:solidFill>
              </a:rPr>
              <a:t>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75F0EC-F81A-45FB-9F71-97499CF3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146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D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323C86-1484-481B-9C11-47F5CECF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43225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B6B14"/>
                </a:solidFill>
              </a:defRPr>
            </a:pPr>
            <a:r>
              <a:rPr sz="1950" b="1">
                <a:solidFill>
                  <a:srgbClr val="9B6B14"/>
                </a:solidFill>
              </a:rPr>
              <a:t>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C995ED-E1C5-4ECC-BE9D-A079C477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146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94EE43-8BE4-4758-8A9B-9B7D01A2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43225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C5C7"/>
                </a:solidFill>
              </a:defRPr>
            </a:pPr>
            <a:r>
              <a:rPr sz="1950" b="1">
                <a:solidFill>
                  <a:srgbClr val="B8C5C7"/>
                </a:solidFill>
              </a:rPr>
              <a:t>—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17564A-AA22-4AA1-B512-AAC3C195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6C1A53-0223-45AC-B81C-0FB94A94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2228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Resp. muscle</a:t>
            </a:r>
          </a:p>
          <a:p xmlns:a="http://schemas.openxmlformats.org/drawingml/2006/main">
            <a:pPr algn="l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active vs sham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5A44DC-E955-4C5C-8158-654169D5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671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D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77E949-6A2A-41E5-981B-12626B7B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95675"/>
            <a:ext cx="1323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B6B14"/>
                </a:solidFill>
              </a:defRPr>
            </a:pPr>
            <a:r>
              <a:rPr sz="1950" b="1">
                <a:solidFill>
                  <a:srgbClr val="9B6B14"/>
                </a:solidFill>
              </a:rPr>
              <a:t>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DEB8C9-987E-4E0D-BAAA-BC41A0D3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67100"/>
            <a:ext cx="1666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DE3C72-FA20-4AB9-855F-12D0E725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95675"/>
            <a:ext cx="1514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C5C7"/>
                </a:solidFill>
              </a:defRPr>
            </a:pPr>
            <a:r>
              <a:rPr sz="1950" b="1">
                <a:solidFill>
                  <a:srgbClr val="B8C5C7"/>
                </a:solidFill>
              </a:rPr>
              <a:t>—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5CCDDF-6749-42F4-8904-3FCECB26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671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33F8F4-3D1C-4B98-B433-75CFFDB7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1228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C5C7"/>
                </a:solidFill>
              </a:defRPr>
            </a:pPr>
            <a:r>
              <a:rPr sz="1950" b="1">
                <a:solidFill>
                  <a:srgbClr val="B8C5C7"/>
                </a:solidFill>
              </a:rPr>
              <a:t>—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D2748B-A197-4F46-A92C-935D61CE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4671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D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24AF33-0781-46CD-8FF0-FA87EB99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95675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B6B14"/>
                </a:solidFill>
              </a:defRPr>
            </a:pPr>
            <a:r>
              <a:rPr sz="1950" b="1">
                <a:solidFill>
                  <a:srgbClr val="9B6B14"/>
                </a:solidFill>
              </a:rPr>
              <a:t>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1244BC-DFBA-44A3-B5AB-19037B07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671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48FD65-8275-4AA5-9838-85CDC065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95675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7C78"/>
                </a:solidFill>
              </a:defRPr>
            </a:pPr>
            <a:r>
              <a:rPr sz="1950" b="1">
                <a:solidFill>
                  <a:srgbClr val="0A7C78"/>
                </a:solidFill>
              </a:rPr>
              <a:t>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F87B95-CAAF-499D-A03B-E2FC9515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06EEDCE-77BA-4234-B94C-F6B04607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228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PuRe-COVID</a:t>
            </a:r>
          </a:p>
          <a:p xmlns:a="http://schemas.openxmlformats.org/drawingml/2006/main">
            <a:pPr algn="l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vs no rehab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09E1A7-0A37-438F-889A-0B1F1A3A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195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4AC2E5A-32DF-4F97-BF60-7720B91B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48125"/>
            <a:ext cx="1323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7C78"/>
                </a:solidFill>
              </a:defRPr>
            </a:pPr>
            <a:r>
              <a:rPr sz="1950" b="1">
                <a:solidFill>
                  <a:srgbClr val="0A7C78"/>
                </a:solidFill>
              </a:rPr>
              <a:t>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1EDB2D-FE71-418B-B0E6-6294B973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19550"/>
            <a:ext cx="1666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B77E9A-225B-4750-BACF-0E26EB0E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48125"/>
            <a:ext cx="1514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7C78"/>
                </a:solidFill>
              </a:defRPr>
            </a:pPr>
            <a:r>
              <a:rPr sz="1950" b="1">
                <a:solidFill>
                  <a:srgbClr val="0A7C78"/>
                </a:solidFill>
              </a:rPr>
              <a:t>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927C02B-F101-47C2-868F-4272C17C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195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7FDA57-7E02-4443-A0A3-9B225DAC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48125"/>
            <a:ext cx="1228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7C78"/>
                </a:solidFill>
              </a:defRPr>
            </a:pPr>
            <a:r>
              <a:rPr sz="1950" b="1">
                <a:solidFill>
                  <a:srgbClr val="0A7C78"/>
                </a:solidFill>
              </a:rPr>
              <a:t>●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9903D2-2969-4494-A752-1AC25D48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19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B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2D4190-2362-4D5C-9A84-AE16E5B7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48125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65B55"/>
                </a:solidFill>
              </a:defRPr>
            </a:pPr>
            <a:r>
              <a:rPr sz="1950" b="1">
                <a:solidFill>
                  <a:srgbClr val="C65B55"/>
                </a:solidFill>
              </a:rPr>
              <a:t>○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43D892-7A18-4079-8CF6-9D769853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9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DB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37F690C-1B08-496D-8416-5BE79AB6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48125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B6B14"/>
                </a:solidFill>
              </a:defRPr>
            </a:pPr>
            <a:r>
              <a:rPr sz="1950" b="1">
                <a:solidFill>
                  <a:srgbClr val="9B6B14"/>
                </a:solidFill>
              </a:rPr>
              <a:t>◐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A6BF078-1423-4DFB-AABC-0F0C6F52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1FA95A2-9F1B-4848-A9B2-967E31F3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2228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Breathing + mobility</a:t>
            </a:r>
          </a:p>
          <a:p xmlns:a="http://schemas.openxmlformats.org/drawingml/2006/main">
            <a:pPr algn="l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vs cardiac rehab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69DF7F1-D489-4776-B3DE-92CF7B1E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720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189AFA9-50EB-40E0-B2A4-D8E8F885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00575"/>
            <a:ext cx="1323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7C78"/>
                </a:solidFill>
              </a:defRPr>
            </a:pPr>
            <a:r>
              <a:rPr sz="1950" b="1">
                <a:solidFill>
                  <a:srgbClr val="0A7C78"/>
                </a:solidFill>
              </a:rPr>
              <a:t>●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CA58608-2A4F-481C-8381-2E773880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572000"/>
            <a:ext cx="1666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0600AB1-F2EB-4E8F-95E2-A2C1C9B6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00575"/>
            <a:ext cx="1514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C5C7"/>
                </a:solidFill>
              </a:defRPr>
            </a:pPr>
            <a:r>
              <a:rPr sz="1950" b="1">
                <a:solidFill>
                  <a:srgbClr val="B8C5C7"/>
                </a:solidFill>
              </a:rPr>
              <a:t>—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3D356D4-8502-4C31-AA39-23447D1C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720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08618A-5F29-4E53-9A89-B9978CC1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00575"/>
            <a:ext cx="1228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C5C7"/>
                </a:solidFill>
              </a:defRPr>
            </a:pPr>
            <a:r>
              <a:rPr sz="1950" b="1">
                <a:solidFill>
                  <a:srgbClr val="B8C5C7"/>
                </a:solidFill>
              </a:rPr>
              <a:t>—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3FA0FA9-66B7-43C6-9583-F2A1E62A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572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B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D5582AD-E130-425B-917E-665699A6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00575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65B55"/>
                </a:solidFill>
              </a:defRPr>
            </a:pPr>
            <a:r>
              <a:rPr sz="1950" b="1">
                <a:solidFill>
                  <a:srgbClr val="C65B55"/>
                </a:solidFill>
              </a:rPr>
              <a:t>○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1B043AF-2A50-42A5-8B46-93C278F3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72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F409C26-85A8-4A8C-A74D-ABC575C0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00575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7C78"/>
                </a:solidFill>
              </a:defRPr>
            </a:pPr>
            <a:r>
              <a:rPr sz="1950" b="1">
                <a:solidFill>
                  <a:srgbClr val="0A7C78"/>
                </a:solidFill>
              </a:rPr>
              <a:t>●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F60D839-422A-41B2-A2E5-03E442AA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606C4D7-CCB6-45B8-AABC-84681D8F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2228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Inspiratory strength</a:t>
            </a:r>
          </a:p>
          <a:p xmlns:a="http://schemas.openxmlformats.org/drawingml/2006/main">
            <a:pPr algn="l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vs breathing exercise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60C257F-5CE2-4DBE-B089-40A3E9D2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244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FF1E489-E43A-41F3-BD62-635F74DC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53025"/>
            <a:ext cx="1323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7C78"/>
                </a:solidFill>
              </a:defRPr>
            </a:pPr>
            <a:r>
              <a:rPr sz="1950" b="1">
                <a:solidFill>
                  <a:srgbClr val="0A7C78"/>
                </a:solidFill>
              </a:rPr>
              <a:t>●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2509B9A-7838-42C4-BB9A-C3AFBF9D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124450"/>
            <a:ext cx="1666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89F5DD5-E72E-47FF-9A4A-B3CDE559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153025"/>
            <a:ext cx="1514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7C78"/>
                </a:solidFill>
              </a:defRPr>
            </a:pPr>
            <a:r>
              <a:rPr sz="1950" b="1">
                <a:solidFill>
                  <a:srgbClr val="0A7C78"/>
                </a:solidFill>
              </a:rPr>
              <a:t>●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C90BAF4-A425-41E7-B76B-EDFEF37B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244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C104CD6-AF66-42FB-9B3A-5092E9CA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53025"/>
            <a:ext cx="1228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7C78"/>
                </a:solidFill>
              </a:defRPr>
            </a:pPr>
            <a:r>
              <a:rPr sz="1950" b="1">
                <a:solidFill>
                  <a:srgbClr val="0A7C78"/>
                </a:solidFill>
              </a:rPr>
              <a:t>●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B51AB5-F851-446A-A3A3-00B94D74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124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12E2922-382B-4049-BCBF-6E5E981B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53025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C5C7"/>
                </a:solidFill>
              </a:defRPr>
            </a:pPr>
            <a:r>
              <a:rPr sz="1950" b="1">
                <a:solidFill>
                  <a:srgbClr val="B8C5C7"/>
                </a:solidFill>
              </a:rPr>
              <a:t>—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D6F6234-4A58-493B-94A1-6AC1A9CD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124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FB25DBF-8AE5-4FC7-910D-8519EAEF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53025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7C78"/>
                </a:solidFill>
              </a:defRPr>
            </a:pPr>
            <a:r>
              <a:rPr sz="1950" b="1">
                <a:solidFill>
                  <a:srgbClr val="0A7C78"/>
                </a:solidFill>
              </a:rPr>
              <a:t>●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0EB8A5E-4B20-42EF-8AB1-B196282D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86450"/>
            <a:ext cx="2000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A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6CE4C20-1D6E-4249-909B-64AA95B4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905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● favoured intervention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52B71EE-89C8-453D-A4A4-253AD9BF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86450"/>
            <a:ext cx="1000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4B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1F35A72-68D7-4667-B467-5CB3ADF1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905500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◐ mixed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0D0AEED-BFD8-4B4D-85FE-5F3252EF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886450"/>
            <a:ext cx="2095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C65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F94A627-FE5C-4214-BC5A-430E97B0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9055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○ no significant difference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4C69D71-EE7C-4BCE-BEC8-3C4B3434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86450"/>
            <a:ext cx="16668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B8C5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AF34418-DD5D-41C8-A792-4120F7CB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905500"/>
            <a:ext cx="1514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13A"/>
                </a:solidFill>
              </a:defRPr>
            </a:pPr>
            <a:r>
              <a:rPr sz="1050" b="1">
                <a:solidFill>
                  <a:srgbClr val="16313A"/>
                </a:solidFill>
              </a:rPr>
              <a:t>— not highlighted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6152A5C-EEFD-44E0-AD81-C98F32EF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95950"/>
            <a:ext cx="309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277"/>
                </a:solidFill>
              </a:defRPr>
            </a:pPr>
            <a:r>
              <a:rPr sz="900" b="0">
                <a:solidFill>
                  <a:srgbClr val="5F7277"/>
                </a:solidFill>
              </a:rPr>
              <a:t>Functional capacity = walking, exercise or strength tests. Quality of life = patient-reported physical, mental and everyday impact. Direction only—not effect size.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95776BA-A243-42D6-8A84-6E6A963A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277"/>
                </a:solidFill>
              </a:defRPr>
            </a:pPr>
            <a:r>
              <a:rPr sz="900" b="0">
                <a:solidFill>
                  <a:srgbClr val="5F7277"/>
                </a:solidFill>
              </a:rPr>
              <a:t>Long COVID rehabilitation evidence · Interim snapshot · 3 Aug 2026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33A4DB7-A64A-4DD0-877A-BBF1685E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313A"/>
                </a:solidFill>
              </a:defRPr>
            </a:pPr>
            <a:r>
              <a:rPr sz="900" b="1">
                <a:solidFill>
                  <a:srgbClr val="16313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59415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168160-1306-48CD-9346-DBBA8648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C78"/>
                </a:solidFill>
              </a:defRPr>
            </a:pPr>
            <a:r>
              <a:rPr sz="1050" b="1">
                <a:solidFill>
                  <a:srgbClr val="0A7C78"/>
                </a:solidFill>
              </a:rPr>
              <a:t>WHAT HAPPENED DURING REGAIN?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BC2CF6-7CF7-43CC-8657-0EAD9379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13A"/>
                </a:solidFill>
              </a:defRPr>
            </a:pPr>
            <a:r>
              <a:rPr sz="2700" b="1">
                <a:solidFill>
                  <a:srgbClr val="16313A"/>
                </a:solidFill>
              </a:rPr>
              <a:t>Exercise, behavioural support and optional mindfulness worked as one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56D8E-252E-4268-9483-0F7F28F9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A0A5B-6A28-4351-A315-6C05A440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58102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08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A2C06-1302-4833-BC4A-3CBFF73A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C9C3"/>
                </a:solidFill>
              </a:defRPr>
            </a:pPr>
            <a:r>
              <a:rPr sz="1650" b="1">
                <a:solidFill>
                  <a:srgbClr val="55C9C3"/>
                </a:solidFill>
              </a:rPr>
              <a:t>THE PHYSICAL PROGRAMME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E6C50-73BD-4908-83F2-03412597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D6CC5-0A8B-41DD-A75B-6F9E2129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28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C9C3"/>
                </a:solidFill>
              </a:defRPr>
            </a:pPr>
            <a:r>
              <a:rPr sz="1275" b="1">
                <a:solidFill>
                  <a:srgbClr val="55C9C3"/>
                </a:solidFill>
              </a:rPr>
              <a:t>Every week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4B171-84A9-4B0D-B17E-5316F175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4765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One live, supervised, equipment-free group exercise session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0DD41-5CF5-4BA7-9EE7-A3567417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908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1B7DC-0809-451C-8648-7422EC19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28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C9C3"/>
                </a:solidFill>
              </a:defRPr>
            </a:pPr>
            <a:r>
              <a:rPr sz="1275" b="1">
                <a:solidFill>
                  <a:srgbClr val="55C9C3"/>
                </a:solidFill>
              </a:rPr>
              <a:t>Activities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2CA56-F8A7-4B03-AA36-F69F3902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575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Cardiovascular movement, strength, balance and daily-living practice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6619E-56C8-48FF-BEF3-96230920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7192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5C2B2-1DFE-4C68-8D81-2041F273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128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C9C3"/>
                </a:solidFill>
              </a:defRPr>
            </a:pPr>
            <a:r>
              <a:rPr sz="1275" b="1">
                <a:solidFill>
                  <a:srgbClr val="55C9C3"/>
                </a:solidFill>
              </a:rPr>
              <a:t>Gentler menu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54EC0-2F36-47EA-9B66-59EC48B6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386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Breathing, Pilates, yoga and seated activity; some progressed to upright moderate or higher intensity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A561E-1A95-4737-AFBA-D787E2D2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529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07B6F-E3FA-4979-AF8A-A0847760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128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C9C3"/>
                </a:solidFill>
              </a:defRPr>
            </a:pPr>
            <a:r>
              <a:rPr sz="1275" b="1">
                <a:solidFill>
                  <a:srgbClr val="55C9C3"/>
                </a:solidFill>
              </a:rPr>
              <a:t>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E0EF9A-178A-4EEA-B8E3-0D35E720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196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Individual starting level, observation, symptom review and adjustment—not one fixed dose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9616E-431E-4720-8016-FB89256D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14500"/>
            <a:ext cx="4733925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CC029-8B57-4561-8BD2-2A15BA3D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812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7C78"/>
                </a:solidFill>
              </a:defRPr>
            </a:pPr>
            <a:r>
              <a:rPr sz="1575" b="1">
                <a:solidFill>
                  <a:srgbClr val="0A7C78"/>
                </a:solidFill>
              </a:rPr>
              <a:t>SIX BEHAVIOURAL-SUPPORT SESSIONS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B6200-023E-4093-BD08-065EB7A2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52700"/>
            <a:ext cx="3905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13A"/>
                </a:solidFill>
              </a:defRPr>
            </a:pPr>
            <a:r>
              <a:rPr sz="1200" b="0">
                <a:solidFill>
                  <a:srgbClr val="16313A"/>
                </a:solidFill>
              </a:rPr>
              <a:t>1  Goals, expectations and motivation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6313A"/>
                </a:solidFill>
              </a:defRPr>
            </a:pPr>
            <a:r>
              <a:rPr sz="1200" b="0">
                <a:solidFill>
                  <a:srgbClr val="16313A"/>
                </a:solidFill>
              </a:rPr>
              <a:t>2  Fear avoidance and pacing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6313A"/>
                </a:solidFill>
              </a:defRPr>
            </a:pPr>
            <a:r>
              <a:rPr sz="1200" b="0">
                <a:solidFill>
                  <a:srgbClr val="16313A"/>
                </a:solidFill>
              </a:rPr>
              <a:t>3  Recovery, sleep and fatigue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6313A"/>
                </a:solidFill>
              </a:defRPr>
            </a:pPr>
            <a:r>
              <a:rPr sz="1200" b="0">
                <a:solidFill>
                  <a:srgbClr val="16313A"/>
                </a:solidFill>
              </a:rPr>
              <a:t>4  Emotions, stigma and unhelpful thoughts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6313A"/>
                </a:solidFill>
              </a:defRPr>
            </a:pPr>
            <a:r>
              <a:rPr sz="1200" b="0">
                <a:solidFill>
                  <a:srgbClr val="16313A"/>
                </a:solidFill>
              </a:rPr>
              <a:t>5  Stress and anxiety management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6313A"/>
                </a:solidFill>
              </a:defRPr>
            </a:pPr>
            <a:r>
              <a:rPr sz="1200" b="0">
                <a:solidFill>
                  <a:srgbClr val="16313A"/>
                </a:solidFill>
              </a:rPr>
              <a:t>6  Setbacks, future goals and maintaining change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46C96-1ACE-4741-8C41-BE609B26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97205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48B0C2-826F-4CD8-AFD4-3A73ED9D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24450"/>
            <a:ext cx="3952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7277"/>
                </a:solidFill>
              </a:defRPr>
            </a:pPr>
            <a:r>
              <a:rPr sz="1125" b="1">
                <a:solidFill>
                  <a:srgbClr val="5F7277"/>
                </a:solidFill>
              </a:rPr>
              <a:t>Was there meditation? Recorded mindfulness videos were available on demand. Mindfulness was supportive—not independently tested.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C30AE5-3041-438E-AB27-5C7CAC21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277"/>
                </a:solidFill>
              </a:defRPr>
            </a:pPr>
            <a:r>
              <a:rPr sz="900" b="0">
                <a:solidFill>
                  <a:srgbClr val="5F7277"/>
                </a:solidFill>
              </a:rPr>
              <a:t>Long COVID rehabilitation evidence · Interim snapshot · 3 Aug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8695B0-3CC9-46A9-8D63-7E6EA51D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313A"/>
                </a:solidFill>
              </a:defRPr>
            </a:pPr>
            <a:r>
              <a:rPr sz="900" b="1">
                <a:solidFill>
                  <a:srgbClr val="16313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97932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EC5BDC-FEFC-41FE-ADBA-202DD484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C78"/>
                </a:solidFill>
              </a:defRPr>
            </a:pPr>
            <a:r>
              <a:rPr sz="1050" b="1">
                <a:solidFill>
                  <a:srgbClr val="0A7C78"/>
                </a:solidFill>
              </a:rPr>
              <a:t>PROPOSED PATHWAYS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08B66C-1AAC-47EC-AAC1-96A48F7B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13A"/>
                </a:solidFill>
              </a:defRPr>
            </a:pPr>
            <a:r>
              <a:rPr sz="2700" b="1">
                <a:solidFill>
                  <a:srgbClr val="16313A"/>
                </a:solidFill>
              </a:rPr>
              <a:t>Rehabilitation targets consequences—not one proven root cause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184B5-203E-44B0-A817-48E6F391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3802D-F98C-41B2-973B-9543F404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3333750" cy="3476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69295-1CE8-44EE-8341-5E0C9A0F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7F64"/>
                </a:solidFill>
              </a:defRPr>
            </a:pPr>
            <a:r>
              <a:rPr sz="1050" b="1">
                <a:solidFill>
                  <a:srgbClr val="EF7F64"/>
                </a:solidFill>
              </a:rPr>
              <a:t>01 · PHYSICAL CAPACITY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244C8-E81E-44A4-87DC-E193319B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13A"/>
                </a:solidFill>
              </a:defRPr>
            </a:pPr>
            <a:r>
              <a:rPr sz="1725" b="1">
                <a:solidFill>
                  <a:srgbClr val="16313A"/>
                </a:solidFill>
              </a:rPr>
              <a:t>Rebuild what may be reversible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6C881-1BDA-4B52-A78D-08E36450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7C78"/>
                </a:solidFill>
              </a:defRPr>
            </a:pPr>
            <a:r>
              <a:rPr sz="1275" b="1">
                <a:solidFill>
                  <a:srgbClr val="0A7C78"/>
                </a:solidFill>
              </a:rPr>
              <a:t>Inactivity, hospitalization or altered movement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415DF-F2FB-4AC5-9072-7A6302E1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F7F64"/>
                </a:solidFill>
              </a:defRPr>
            </a:pPr>
            <a:r>
              <a:rPr sz="2100" b="1">
                <a:solidFill>
                  <a:srgbClr val="EF7F64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07F58-7229-4BFD-A212-EC119BB4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277"/>
                </a:solidFill>
              </a:defRPr>
            </a:pPr>
            <a:r>
              <a:rPr sz="1200" b="0">
                <a:solidFill>
                  <a:srgbClr val="5F7277"/>
                </a:solidFill>
              </a:rPr>
              <a:t>Tailored cardiovascular, strength and balance work may make daily activity require less effort.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F85AD-292D-42A6-9A32-26AFEDA9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90700"/>
            <a:ext cx="3333750" cy="3476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FB2A2-1A8C-49A1-A9B8-59F17CE1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47875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7F64"/>
                </a:solidFill>
              </a:defRPr>
            </a:pPr>
            <a:r>
              <a:rPr sz="1050" b="1">
                <a:solidFill>
                  <a:srgbClr val="EF7F64"/>
                </a:solidFill>
              </a:rPr>
              <a:t>02 · SELF-MANAGEMENT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F323C-E93D-40EE-8B57-58A740AB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28875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13A"/>
                </a:solidFill>
              </a:defRPr>
            </a:pPr>
            <a:r>
              <a:rPr sz="1725" b="1">
                <a:solidFill>
                  <a:srgbClr val="16313A"/>
                </a:solidFill>
              </a:rPr>
              <a:t>Use limited capacity better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7FFFC-F0EE-42DE-82A4-72B8AEA9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7C78"/>
                </a:solidFill>
              </a:defRPr>
            </a:pPr>
            <a:r>
              <a:rPr sz="1275" b="1">
                <a:solidFill>
                  <a:srgbClr val="0A7C78"/>
                </a:solidFill>
              </a:rPr>
              <a:t>Breathlessness, fatigue, sleep disruption and setbacks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1FA3B-C5A7-46A4-AC51-96C0D468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528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F7F64"/>
                </a:solidFill>
              </a:defRPr>
            </a:pPr>
            <a:r>
              <a:rPr sz="2100" b="1">
                <a:solidFill>
                  <a:srgbClr val="EF7F64"/>
                </a:solidFill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9F3A9-0303-4461-8A18-334E6538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10050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277"/>
                </a:solidFill>
              </a:defRPr>
            </a:pPr>
            <a:r>
              <a:rPr sz="1200" b="0">
                <a:solidFill>
                  <a:srgbClr val="5F7277"/>
                </a:solidFill>
              </a:rPr>
              <a:t>Breathing technique, pacing, monitoring and planning may reduce avoidable symptom burden.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35E4E-BD3C-4ED4-9A91-2791CB47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3333750" cy="3476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5E5D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20B089-6F76-40AE-8711-0AE7D4E5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47875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7F64"/>
                </a:solidFill>
              </a:defRPr>
            </a:pPr>
            <a:r>
              <a:rPr sz="1050" b="1">
                <a:solidFill>
                  <a:srgbClr val="EF7F64"/>
                </a:solidFill>
              </a:rPr>
              <a:t>03 · PARTICIPATION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C5BF9-C871-4FB2-86E9-EA20D803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28875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13A"/>
                </a:solidFill>
              </a:defRPr>
            </a:pPr>
            <a:r>
              <a:rPr sz="1725" b="1">
                <a:solidFill>
                  <a:srgbClr val="16313A"/>
                </a:solidFill>
              </a:rPr>
              <a:t>Restore confidence and support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D672F1-B850-4DEA-AD3A-32E1B77C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7C78"/>
                </a:solidFill>
              </a:defRPr>
            </a:pPr>
            <a:r>
              <a:rPr sz="1275" b="1">
                <a:solidFill>
                  <a:srgbClr val="0A7C78"/>
                </a:solidFill>
              </a:rPr>
              <a:t>Fear, uncertainty, low mood or isolation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FFABEE-40C7-41D2-BFBE-97253513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528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F7F64"/>
                </a:solidFill>
              </a:defRPr>
            </a:pPr>
            <a:r>
              <a:rPr sz="2100" b="1">
                <a:solidFill>
                  <a:srgbClr val="EF7F64"/>
                </a:solidFill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4B7AE-555B-4465-92DE-57B5A8DF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10050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277"/>
                </a:solidFill>
              </a:defRPr>
            </a:pPr>
            <a:r>
              <a:rPr sz="1200" b="0">
                <a:solidFill>
                  <a:srgbClr val="5F7277"/>
                </a:solidFill>
              </a:rPr>
              <a:t>Supervision, behavioural skills and peer contact may support participation and quality of life.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B2FAFF-7732-4189-A527-89B7D6A2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43550"/>
            <a:ext cx="923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8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1D48E1-88DF-4585-B1F9-05A767DB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6197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Not every patient is simply deconditioned. Mitochondrial, oxygen-extraction, autonomic, vascular and muscle abnormalities occur in subgroups; PEM/PESE can make exertion harmful.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F2058-832F-4554-96BF-6F357A80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277"/>
                </a:solidFill>
              </a:defRPr>
            </a:pPr>
            <a:r>
              <a:rPr sz="900" b="0">
                <a:solidFill>
                  <a:srgbClr val="5F7277"/>
                </a:solidFill>
              </a:rPr>
              <a:t>Long COVID rehabilitation evidence · Interim snapshot · 3 Aug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0589CC-DEC9-4867-8FF5-F21643EA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313A"/>
                </a:solidFill>
              </a:defRPr>
            </a:pPr>
            <a:r>
              <a:rPr sz="900" b="1">
                <a:solidFill>
                  <a:srgbClr val="16313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71630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A8F35-E701-42F4-8A38-9563D0A1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C78"/>
                </a:solidFill>
              </a:defRPr>
            </a:pPr>
            <a:r>
              <a:rPr sz="1050" b="1">
                <a:solidFill>
                  <a:srgbClr val="0A7C78"/>
                </a:solidFill>
              </a:rPr>
              <a:t>THE PRIMARY REGAIN RESULT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5159E1-F1EA-4002-9CA9-3406BDE7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13A"/>
                </a:solidFill>
              </a:defRPr>
            </a:pPr>
            <a:r>
              <a:rPr sz="2700" b="1">
                <a:solidFill>
                  <a:srgbClr val="16313A"/>
                </a:solidFill>
              </a:rPr>
              <a:t>Both groups improved; REGAIN added a small average advantage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F5C96-B5DF-48C2-ADFF-FCF4F2DE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F6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a639a365b74d4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F54A8-41E3-4F8C-A6C8-0607AB29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7277"/>
                </a:solidFill>
              </a:defRPr>
            </a:pPr>
            <a:r>
              <a:rPr sz="975" b="0">
                <a:solidFill>
                  <a:srgbClr val="5F7277"/>
                </a:solidFill>
              </a:rPr>
              <a:t>Observed means · 3 months: REGAIN n=237; usual care n=248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8F07F-1400-4CC7-9AF1-1FBA0547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19500" cy="3714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08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377FB-8AD1-4E04-A811-69FD090F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00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55C9C3"/>
                </a:solidFill>
              </a:defRPr>
            </a:pPr>
            <a:r>
              <a:rPr sz="3750" b="1">
                <a:solidFill>
                  <a:srgbClr val="55C9C3"/>
                </a:solidFill>
              </a:rPr>
              <a:t>+0.03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FE9CE-1E23-4D78-9B8E-006C0D62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Adjusted average advantage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versus usual care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80464-134D-491E-A1EC-AA42F934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DECE8"/>
                </a:solidFill>
              </a:defRPr>
            </a:pPr>
            <a:r>
              <a:rPr sz="1200" b="0">
                <a:solidFill>
                  <a:srgbClr val="DDECE8"/>
                </a:solidFill>
              </a:rPr>
              <a:t>95% CI +0.01 to +0.05 · p=0.02</a:t>
            </a:r>
          </a:p>
          <a:p xmlns:a="http://schemas.openxmlformats.org/drawingml/2006/main">
            <a:pPr algn="ctr">
              <a:defRPr sz="1200" b="0">
                <a:solidFill>
                  <a:srgbClr val="DDECE8"/>
                </a:solidFill>
              </a:defRPr>
            </a:pPr>
            <a:r>
              <a:rPr sz="1200" b="0">
                <a:solidFill>
                  <a:srgbClr val="DDECE8"/>
                </a:solidFill>
              </a:rPr>
              <a:t>The interval excludes no difference.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2703D-DEE4-4A40-AAAE-86258E17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57675"/>
            <a:ext cx="276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A0DFB-CE4A-4332-A0E7-89F3A7F0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29125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Suggested meaningful threshold ≈ +0.04. Best estimate is slightly below it; the interval spans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709A5-0DAB-47FB-9AD4-97FD2F2C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387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7F64"/>
                </a:solidFill>
              </a:defRPr>
            </a:pPr>
            <a:r>
              <a:rPr sz="1050" b="1">
                <a:solidFill>
                  <a:srgbClr val="EF7F64"/>
                </a:solidFill>
              </a:rPr>
              <a:t>Statistically convincing · small · clinical importance uncertain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24EE3-794D-4CF9-BD62-44EC69C7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5312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13A"/>
                </a:solidFill>
              </a:defRPr>
            </a:pPr>
            <a:r>
              <a:rPr sz="1500" b="1">
                <a:solidFill>
                  <a:srgbClr val="16313A"/>
                </a:solidFill>
              </a:rPr>
              <a:t>+0.03 is not ‘3% better,’ a cure rate or an individual prediction.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EC485-E76A-4EE9-8F2A-9ED44F32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277"/>
                </a:solidFill>
              </a:defRPr>
            </a:pPr>
            <a:r>
              <a:rPr sz="900" b="0">
                <a:solidFill>
                  <a:srgbClr val="5F7277"/>
                </a:solidFill>
              </a:rPr>
              <a:t>Long COVID rehabilitation evidence · Interim snapshot · 3 Aug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75FF2-9A97-4280-BC5F-10374157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313A"/>
                </a:solidFill>
              </a:defRPr>
            </a:pPr>
            <a:r>
              <a:rPr sz="900" b="1">
                <a:solidFill>
                  <a:srgbClr val="16313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582031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3B063-0928-4744-88AF-226E4799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C78"/>
                </a:solidFill>
              </a:defRPr>
            </a:pPr>
            <a:r>
              <a:rPr sz="1050" b="1">
                <a:solidFill>
                  <a:srgbClr val="0A7C78"/>
                </a:solidFill>
              </a:rPr>
              <a:t>REGAIN FIT AND SAFETY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44771E-B807-4A06-8DBB-0050BA00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13A"/>
                </a:solidFill>
              </a:defRPr>
            </a:pPr>
            <a:r>
              <a:rPr sz="2700" b="1">
                <a:solidFill>
                  <a:srgbClr val="16313A"/>
                </a:solidFill>
              </a:rPr>
              <a:t>Who was studied—and how confidently can this travel to other patients?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6E5CE-5CFB-498E-8559-1A830C02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50FC1-364A-4B45-B04E-C11F719C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953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CB852-DB2F-46EB-937C-820C4E78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7C78"/>
                </a:solidFill>
              </a:defRPr>
            </a:pPr>
            <a:r>
              <a:rPr sz="2025" b="1">
                <a:solidFill>
                  <a:srgbClr val="0A7C78"/>
                </a:solidFill>
              </a:rPr>
              <a:t>Participants and completion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20567-395E-40B9-B8AA-1087A816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000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13A"/>
                </a:solidFill>
              </a:defRPr>
            </a:pPr>
            <a:r>
              <a:rPr sz="1275" b="0">
                <a:solidFill>
                  <a:srgbClr val="16313A"/>
                </a:solidFill>
              </a:rPr>
              <a:t>• Previously hospitalized; average 323 days after discharge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6313A"/>
                </a:solidFill>
              </a:defRPr>
            </a:pPr>
            <a:r>
              <a:rPr sz="1275" b="0">
                <a:solidFill>
                  <a:srgbClr val="16313A"/>
                </a:solidFill>
              </a:rPr>
              <a:t>• Mean age 56 · 52% women · 88% White · 34% ICU/HDU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6313A"/>
                </a:solidFill>
              </a:defRPr>
            </a:pPr>
            <a:r>
              <a:rPr sz="1275" b="0">
                <a:solidFill>
                  <a:srgbClr val="16313A"/>
                </a:solidFill>
              </a:rPr>
              <a:t>• 47% fully adhered · 39% partially · 13% received 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6313A"/>
                </a:solidFill>
              </a:defRPr>
            </a:pPr>
            <a:r>
              <a:rPr sz="1275" b="0">
                <a:solidFill>
                  <a:srgbClr val="16313A"/>
                </a:solidFill>
              </a:rPr>
              <a:t>• Primary outcome: 80% REGAIN versus 86%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21889-321D-456C-BDAC-BF3FB961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334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08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A6B43-4F88-4078-9EAB-BBB5F7A0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7F64"/>
                </a:solidFill>
              </a:defRPr>
            </a:pPr>
            <a:r>
              <a:rPr sz="1800" b="1">
                <a:solidFill>
                  <a:srgbClr val="EF7F64"/>
                </a:solidFill>
              </a:rPr>
              <a:t>Harms and evidence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5C6C9-DF0D-4687-9C95-9B38DBC3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67000"/>
            <a:ext cx="4333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• Adverse events: 28 REGAIN versus 16 usual care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• Serious adverse events: 14 versus 7; one possibly related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• No post-exertional symptom exacerbation detected during weekly monitoring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• Safety is not established for severe, housebound or substantial PEM/PESE populations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93E42-7C75-4580-8D97-4DDD4472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13A"/>
                </a:solidFill>
              </a:defRPr>
            </a:pPr>
            <a:r>
              <a:rPr sz="1575" b="1">
                <a:solidFill>
                  <a:srgbClr val="16313A"/>
                </a:solidFill>
              </a:rPr>
              <a:t>Screen specifically for post-exertional symptom exacerbation before prescribing or progressing activity.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7FF18-2811-424E-9BAB-89A8F28F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277"/>
                </a:solidFill>
              </a:defRPr>
            </a:pPr>
            <a:r>
              <a:rPr sz="900" b="0">
                <a:solidFill>
                  <a:srgbClr val="5F7277"/>
                </a:solidFill>
              </a:rPr>
              <a:t>Long COVID rehabilitation evidence · Interim snapshot · 3 Aug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12111-CC09-497F-9658-A12818C9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313A"/>
                </a:solidFill>
              </a:defRPr>
            </a:pPr>
            <a:r>
              <a:rPr sz="900" b="1">
                <a:solidFill>
                  <a:srgbClr val="16313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288738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A00C60-C7F1-4A17-8141-E7A8EF47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C78"/>
                </a:solidFill>
              </a:defRPr>
            </a:pPr>
            <a:r>
              <a:rPr sz="1050" b="1">
                <a:solidFill>
                  <a:srgbClr val="0A7C78"/>
                </a:solidFill>
              </a:rPr>
              <a:t>PATIENT QUESTIONS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E9BA6D-0DA2-4DD5-B406-4661279B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13A"/>
                </a:solidFill>
              </a:defRPr>
            </a:pPr>
            <a:r>
              <a:rPr sz="2700" b="1">
                <a:solidFill>
                  <a:srgbClr val="16313A"/>
                </a:solidFill>
              </a:rPr>
              <a:t>What should I ask before starting a programme?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41646-A5FE-4A52-BC21-141A3E9E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84DE4-F95C-42E8-80CE-A84C8F24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238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CAA75-0FC7-4CD3-9F56-0CE7BCAB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A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C527D-95D8-4B25-BEE8-9DC06D9B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583C5-4CC4-4484-8F9C-2E23C587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383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13A"/>
                </a:solidFill>
              </a:defRPr>
            </a:pPr>
            <a:r>
              <a:rPr sz="1350" b="1">
                <a:solidFill>
                  <a:srgbClr val="16313A"/>
                </a:solidFill>
              </a:rPr>
              <a:t>Could I have PEM or PESE?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FA716-38A9-420B-A95C-A7B9BCA5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4312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277"/>
                </a:solidFill>
              </a:defRPr>
            </a:pPr>
            <a:r>
              <a:rPr sz="1125" b="0">
                <a:solidFill>
                  <a:srgbClr val="5F7277"/>
                </a:solidFill>
              </a:rPr>
              <a:t>Ask whether activity causes delayed symptom worsening and how that changes the plan.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333EE-8F4F-4A23-AC66-0F984DEC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5238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73535-647F-40F7-9F99-CF03A4FA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954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A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D6A4E-9DCC-4D2F-A6C3-EDCB4BB4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CB861-B927-48F1-9DD6-539FABC0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383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13A"/>
                </a:solidFill>
              </a:defRPr>
            </a:pPr>
            <a:r>
              <a:rPr sz="1350" b="1">
                <a:solidFill>
                  <a:srgbClr val="16313A"/>
                </a:solidFill>
              </a:rPr>
              <a:t>What will you assess?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42D86-13D9-44F6-AF83-9C593D02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4312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277"/>
                </a:solidFill>
              </a:defRPr>
            </a:pPr>
            <a:r>
              <a:rPr sz="1125" b="0">
                <a:solidFill>
                  <a:srgbClr val="5F7277"/>
                </a:solidFill>
              </a:rPr>
              <a:t>Symptoms, daily activity, breathing, heart and orthostatic/autonomic concerns.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47CDF-7B27-4CFE-AE84-420070FF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5238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0A766-33D9-417E-A841-1492C9D5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A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3A085-27E2-4D53-8C3F-8BEDBC39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91181D-8E07-4ECA-A48F-8B81DFF4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670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13A"/>
                </a:solidFill>
              </a:defRPr>
            </a:pPr>
            <a:r>
              <a:rPr sz="1350" b="1">
                <a:solidFill>
                  <a:srgbClr val="16313A"/>
                </a:solidFill>
              </a:rPr>
              <a:t>What is my safe starting point?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6E5DBF-0965-4F4F-B926-2627D95C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7187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277"/>
                </a:solidFill>
              </a:defRPr>
            </a:pPr>
            <a:r>
              <a:rPr sz="1125" b="0">
                <a:solidFill>
                  <a:srgbClr val="5F7277"/>
                </a:solidFill>
              </a:rPr>
              <a:t>Protect essential daily activity; do not assume fixed weekly increases.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08FE8-4AEE-4810-AE9F-C881CB4A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5238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4C769D-B316-4384-B3D3-245968E1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2422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A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500F80-0088-42FB-A9D3-56602DBF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5DB83-9D7C-44EE-A69E-AD9B4ABA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670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13A"/>
                </a:solidFill>
              </a:defRPr>
            </a:pPr>
            <a:r>
              <a:rPr sz="1350" b="1">
                <a:solidFill>
                  <a:srgbClr val="16313A"/>
                </a:solidFill>
              </a:rPr>
              <a:t>How will we monitor delayed effects?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5EE220-0247-48AB-A15F-E9D5C658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7187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277"/>
                </a:solidFill>
              </a:defRPr>
            </a:pPr>
            <a:r>
              <a:rPr sz="1125" b="0">
                <a:solidFill>
                  <a:srgbClr val="5F7277"/>
                </a:solidFill>
              </a:rPr>
              <a:t>Track symptoms during the session and over the following days.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7F6787-D658-43F3-8C96-6976E09C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5238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CE31A9-DE38-40CF-9E03-F7D62244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529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A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109FF3-B5D0-4435-907C-423C039B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CE953E-3B42-4F03-A9C3-418A165D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958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13A"/>
                </a:solidFill>
              </a:defRPr>
            </a:pPr>
            <a:r>
              <a:rPr sz="1350" b="1">
                <a:solidFill>
                  <a:srgbClr val="16313A"/>
                </a:solidFill>
              </a:rPr>
              <a:t>What are the pause or stop rules?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F0DAB0-5B2B-4997-BF16-6958E7FC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0062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277"/>
                </a:solidFill>
              </a:defRPr>
            </a:pPr>
            <a:r>
              <a:rPr sz="1125" b="0">
                <a:solidFill>
                  <a:srgbClr val="5F7277"/>
                </a:solidFill>
              </a:rPr>
              <a:t>Know when to maintain, reduce, pause or stop—and who to contact.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972A21-7B00-4A74-B7CF-DC3D2393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5238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FD97D9-5E92-4BEA-9779-7C8AF3B5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529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A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A084A9-3470-49E9-8C15-549A1753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8D1E1E-9513-4E81-B63F-84A7D984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958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13A"/>
                </a:solidFill>
              </a:defRPr>
            </a:pPr>
            <a:r>
              <a:rPr sz="1350" b="1">
                <a:solidFill>
                  <a:srgbClr val="16313A"/>
                </a:solidFill>
              </a:rPr>
              <a:t>Who will supervise—and how?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CA8AB9-EDB3-4873-A8E1-FBE6C917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0062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277"/>
                </a:solidFill>
              </a:defRPr>
            </a:pPr>
            <a:r>
              <a:rPr sz="1125" b="0">
                <a:solidFill>
                  <a:srgbClr val="5F7277"/>
                </a:solidFill>
              </a:rPr>
              <a:t>Clarify experience, scheduled contact, home practice and review.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39B5EE-5C6C-4F84-9AB4-08F8864E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48375"/>
            <a:ext cx="8667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8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0D3AE1-8B23-4445-8D99-B9C3351B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0769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PEM/PESE: symptoms worsen after activity; worsening may be delayed and recovery may take longer than expected.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F470A2-0712-4321-BD48-9DEEA208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277"/>
                </a:solidFill>
              </a:defRPr>
            </a:pPr>
            <a:r>
              <a:rPr sz="900" b="0">
                <a:solidFill>
                  <a:srgbClr val="5F7277"/>
                </a:solidFill>
              </a:rPr>
              <a:t>Long COVID rehabilitation evidence · Interim snapshot · 3 Aug 2026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910C10-59D7-4A79-AA31-8CD7AD93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313A"/>
                </a:solidFill>
              </a:defRPr>
            </a:pPr>
            <a:r>
              <a:rPr sz="900" b="1">
                <a:solidFill>
                  <a:srgbClr val="16313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71137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6669B-E5C0-4334-A486-FA3D7D98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C78"/>
                </a:solidFill>
              </a:defRPr>
            </a:pPr>
            <a:r>
              <a:rPr sz="1050" b="1">
                <a:solidFill>
                  <a:srgbClr val="0A7C78"/>
                </a:solidFill>
              </a:rPr>
              <a:t>WHAT REGAIN ADDED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5EF961-BB12-44E2-A2A7-760E1C36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13A"/>
                </a:solidFill>
              </a:defRPr>
            </a:pPr>
            <a:r>
              <a:rPr sz="2700" b="1">
                <a:solidFill>
                  <a:srgbClr val="16313A"/>
                </a:solidFill>
              </a:rPr>
              <a:t>REGAIN tested a complete care pathway—not one ‘best’ exercise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D98BA-274A-4CCB-BF7A-1ABCFD24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49275-CBF7-4B78-8FA8-69E3AA6F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313A"/>
                </a:solidFill>
              </a:defRPr>
            </a:pPr>
            <a:r>
              <a:rPr sz="2250" b="1">
                <a:solidFill>
                  <a:srgbClr val="16313A"/>
                </a:solidFill>
              </a:rPr>
              <a:t>The complete eight-week programme produced a small average benefit beyond active usual care.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F1C44-45CD-44E1-9566-0E605CB9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57500"/>
            <a:ext cx="800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D8B37-D640-484E-A518-9F888D76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81375"/>
            <a:ext cx="4762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5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183D1-D29A-454D-B712-47B94462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7C78"/>
                </a:solidFill>
              </a:defRPr>
            </a:pPr>
            <a:r>
              <a:rPr sz="1500" b="1">
                <a:solidFill>
                  <a:srgbClr val="0A7C78"/>
                </a:solidFill>
              </a:rPr>
              <a:t>SUPPORTED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E3EFA-C869-4BC1-973B-F66124EE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4337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13A"/>
                </a:solidFill>
              </a:defRPr>
            </a:pPr>
            <a:r>
              <a:rPr sz="1725" b="1">
                <a:solidFill>
                  <a:srgbClr val="16313A"/>
                </a:solidFill>
              </a:rPr>
              <a:t>A supervised online package can add modest quality-of-life benefit for selected post-hospital patients.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C100E-E31D-43D4-90DD-CA8BE562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81375"/>
            <a:ext cx="4762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159D4-362E-40BE-A9FD-A1B27262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67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65B55"/>
                </a:solidFill>
              </a:defRPr>
            </a:pPr>
            <a:r>
              <a:rPr sz="1500" b="1">
                <a:solidFill>
                  <a:srgbClr val="C65B55"/>
                </a:solidFill>
              </a:rPr>
              <a:t>STILL UNKNOWN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57A18-584E-4007-A213-6A2650C8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4337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13A"/>
                </a:solidFill>
              </a:defRPr>
            </a:pPr>
            <a:r>
              <a:rPr sz="1725" b="1">
                <a:solidFill>
                  <a:srgbClr val="16313A"/>
                </a:solidFill>
              </a:rPr>
              <a:t>Which component mattered, who benefits most, and safety with substantial PEM/PESE.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FC32F-1C82-4680-B062-70A876C0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762625"/>
            <a:ext cx="866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7277"/>
                </a:solidFill>
              </a:defRPr>
            </a:pPr>
            <a:r>
              <a:rPr sz="1350" b="0">
                <a:solidFill>
                  <a:srgbClr val="5F7277"/>
                </a:solidFill>
              </a:rPr>
              <a:t>REGAIN did not test herbs, acupuncture or Traditional Chinese Medicine theory.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1A869-A4AA-4C6C-812F-6CB22617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277"/>
                </a:solidFill>
              </a:defRPr>
            </a:pPr>
            <a:r>
              <a:rPr sz="900" b="0">
                <a:solidFill>
                  <a:srgbClr val="5F7277"/>
                </a:solidFill>
              </a:rPr>
              <a:t>Long COVID rehabilitation evidence · Interim snapshot · 3 Aug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874B3-9DB8-4626-914A-DC04338B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313A"/>
                </a:solidFill>
              </a:defRPr>
            </a:pPr>
            <a:r>
              <a:rPr sz="900" b="1">
                <a:solidFill>
                  <a:srgbClr val="16313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376955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8C5551-BC17-4FDD-8A8D-97536A57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C78"/>
                </a:solidFill>
              </a:defRPr>
            </a:pPr>
            <a:r>
              <a:rPr sz="1050" b="1">
                <a:solidFill>
                  <a:srgbClr val="0A7C78"/>
                </a:solidFill>
              </a:rPr>
              <a:t>AUTHOR CONCLUSION EXCERPTS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685FB-E955-41E4-B223-22948570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13A"/>
                </a:solidFill>
              </a:defRPr>
            </a:pPr>
            <a:r>
              <a:rPr sz="2700" b="1">
                <a:solidFill>
                  <a:srgbClr val="16313A"/>
                </a:solidFill>
              </a:rPr>
              <a:t>Trial reports behind the main outcome charts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2E538-923C-4514-9D9C-DC05784C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943FD-F9CC-46B9-814D-2652F1FB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238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63552-9C50-440E-9D9D-9117084A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00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8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FB1C4-663E-4737-A1BF-18DAFEF4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64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38325873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9A855-41F4-4AEF-B668-88E0CEAB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9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7C78"/>
                </a:solidFill>
              </a:defRPr>
            </a:pPr>
            <a:r>
              <a:rPr sz="1275" b="1">
                <a:solidFill>
                  <a:srgbClr val="0A7C78"/>
                </a:solidFill>
              </a:rPr>
              <a:t>REGAIN · supervised group rehabilitation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5697A-5E2B-4A7A-97FD-2EF7749C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13A"/>
                </a:solidFill>
              </a:defRPr>
            </a:pPr>
            <a:r>
              <a:rPr sz="1200" b="0">
                <a:solidFill>
                  <a:srgbClr val="16313A"/>
                </a:solidFill>
              </a:rPr>
              <a:t>“clinically effective at improving health related quality of life at three and 12 months”</a:t>
            </a:r>
          </a:p>
        </p:txBody>
      </p:sp>
      <p:sp>
        <p:nvSpPr>
          <p:cNvPr id="9" name="paper-url-38325873">
            <a:extLst xmlns:a="http://schemas.openxmlformats.org/drawingml/2006/main">
              <a:ext uri="{FF2B5EF4-FFF2-40B4-BE49-F238E27FC236}">
                <a16:creationId xmlns:a16="http://schemas.microsoft.com/office/drawing/2014/main" id="{A4689DDE-E786-4F6C-A0D8-EA68A923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812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F7F64"/>
                </a:solidFill>
              </a:defRPr>
            </a:pPr>
            <a:r>
              <a:rPr sz="825" b="0">
                <a:solidFill>
                  <a:srgbClr val="EF7F64"/>
                </a:solidFill>
                <a:hlinkClick xmlns:r="http://schemas.openxmlformats.org/officeDocument/2006/relationships" r:id="R762418f5206e468b"/>
              </a:rPr>
              <a:t>https://pubmed.ncbi.nlm.nih.gov/38325873/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EE3F6-5B8D-47CD-B802-CC8AFB39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5238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3659F-2356-407C-BF2B-88EB6229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57375"/>
            <a:ext cx="1000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8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D7F93-0E6F-41CD-A63A-3D397A8A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764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35489367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25398-4FA0-48F8-9BBE-845FC433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7C78"/>
                </a:solidFill>
              </a:defRPr>
            </a:pPr>
            <a:r>
              <a:rPr sz="1275" b="1">
                <a:solidFill>
                  <a:srgbClr val="0A7C78"/>
                </a:solidFill>
              </a:rPr>
              <a:t>ENO Breathe · breathing and wellbeing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D5ABD-9744-4D0E-8BF2-AB8D3FE6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13A"/>
                </a:solidFill>
              </a:defRPr>
            </a:pPr>
            <a:r>
              <a:rPr sz="1200" b="0">
                <a:solidFill>
                  <a:srgbClr val="16313A"/>
                </a:solidFill>
              </a:rPr>
              <a:t>“can improve the mental component of HRQoL and elements of breathlessness”</a:t>
            </a:r>
          </a:p>
        </p:txBody>
      </p:sp>
      <p:sp>
        <p:nvSpPr>
          <p:cNvPr id="15" name="paper-url-35489367">
            <a:extLst xmlns:a="http://schemas.openxmlformats.org/drawingml/2006/main">
              <a:ext uri="{FF2B5EF4-FFF2-40B4-BE49-F238E27FC236}">
                <a16:creationId xmlns:a16="http://schemas.microsoft.com/office/drawing/2014/main" id="{EB7E2BD0-BC3D-451D-BFC8-FB384056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812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F7F64"/>
                </a:solidFill>
              </a:defRPr>
            </a:pPr>
            <a:r>
              <a:rPr sz="825" b="0">
                <a:solidFill>
                  <a:srgbClr val="EF7F64"/>
                </a:solidFill>
                <a:hlinkClick xmlns:r="http://schemas.openxmlformats.org/officeDocument/2006/relationships" r:id="Rbb27f6bb206246df"/>
              </a:rPr>
              <a:t>https://pubmed.ncbi.nlm.nih.gov/35489367/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6E640-963C-457B-BAA1-D432EE7A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4675"/>
            <a:ext cx="5238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993AE-0110-46C7-80C4-4F7EBC36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1000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8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585BD0-E5E5-433B-8BD8-FA027077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242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36191860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89100-6055-4F64-BB0F-64BAD70A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7C78"/>
                </a:solidFill>
              </a:defRPr>
            </a:pPr>
            <a:r>
              <a:rPr sz="1275" b="1">
                <a:solidFill>
                  <a:srgbClr val="0A7C78"/>
                </a:solidFill>
              </a:rPr>
              <a:t>Home respiratory muscle training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16E7A1-F5E3-4A4F-835B-0460E287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433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13A"/>
                </a:solidFill>
              </a:defRPr>
            </a:pPr>
            <a:r>
              <a:rPr sz="1200" b="0">
                <a:solidFill>
                  <a:srgbClr val="16313A"/>
                </a:solidFill>
              </a:rPr>
              <a:t>“improving quality of life, but not exercise tolerance”</a:t>
            </a:r>
          </a:p>
        </p:txBody>
      </p:sp>
      <p:sp>
        <p:nvSpPr>
          <p:cNvPr id="21" name="paper-url-36191860">
            <a:extLst xmlns:a="http://schemas.openxmlformats.org/drawingml/2006/main">
              <a:ext uri="{FF2B5EF4-FFF2-40B4-BE49-F238E27FC236}">
                <a16:creationId xmlns:a16="http://schemas.microsoft.com/office/drawing/2014/main" id="{A4E743E0-4FE0-4B9F-BCE9-EDDBD13D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290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F7F64"/>
                </a:solidFill>
              </a:defRPr>
            </a:pPr>
            <a:r>
              <a:rPr sz="825" b="0">
                <a:solidFill>
                  <a:srgbClr val="EF7F64"/>
                </a:solidFill>
                <a:hlinkClick xmlns:r="http://schemas.openxmlformats.org/officeDocument/2006/relationships" r:id="R5a96f8e23f774533"/>
              </a:rPr>
              <a:t>https://pubmed.ncbi.nlm.nih.gov/36191860/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3F239-6900-47BE-863C-5FCF2FBE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14675"/>
            <a:ext cx="5238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5F0557-54B2-4659-B6A3-671BF254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05175"/>
            <a:ext cx="1000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8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E5B00A-D493-4E72-A111-D418758E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242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41253410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2575E5-3D5B-4DA5-8794-235B6F86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7C78"/>
                </a:solidFill>
              </a:defRPr>
            </a:pPr>
            <a:r>
              <a:rPr sz="1275" b="1">
                <a:solidFill>
                  <a:srgbClr val="0A7C78"/>
                </a:solidFill>
              </a:rPr>
              <a:t>PuRe-COVID · primary-care rehabilitation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D71DE4-AD97-4268-B2F2-BBC51A5A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433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13A"/>
                </a:solidFill>
              </a:defRPr>
            </a:pPr>
            <a:r>
              <a:rPr sz="1200" b="0">
                <a:solidFill>
                  <a:srgbClr val="16313A"/>
                </a:solidFill>
              </a:rPr>
              <a:t>“may improve functional exercise capacity, fatigue and dyspnoea”</a:t>
            </a:r>
          </a:p>
        </p:txBody>
      </p:sp>
      <p:sp>
        <p:nvSpPr>
          <p:cNvPr id="27" name="paper-url-41253410">
            <a:extLst xmlns:a="http://schemas.openxmlformats.org/drawingml/2006/main">
              <a:ext uri="{FF2B5EF4-FFF2-40B4-BE49-F238E27FC236}">
                <a16:creationId xmlns:a16="http://schemas.microsoft.com/office/drawing/2014/main" id="{95B68BB3-D1A4-4573-8B0A-78CEBD4D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290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F7F64"/>
                </a:solidFill>
              </a:defRPr>
            </a:pPr>
            <a:r>
              <a:rPr sz="825" b="0">
                <a:solidFill>
                  <a:srgbClr val="EF7F64"/>
                </a:solidFill>
                <a:hlinkClick xmlns:r="http://schemas.openxmlformats.org/officeDocument/2006/relationships" r:id="Rc833c6570b7b41cb"/>
              </a:rPr>
              <a:t>https://pubmed.ncbi.nlm.nih.gov/41253410/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71D6DB-3A22-46D5-B894-C764B828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5238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5FEBD-3C4F-423E-9BCE-C6465C7D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52975"/>
            <a:ext cx="1000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8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F57FEB-6C2E-485C-A9E7-47C3476F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39425012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A83957-A63A-4E99-BE00-2AE29BFA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053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7C78"/>
                </a:solidFill>
              </a:defRPr>
            </a:pPr>
            <a:r>
              <a:rPr sz="1275" b="1">
                <a:solidFill>
                  <a:srgbClr val="0A7C78"/>
                </a:solidFill>
              </a:rPr>
              <a:t>Breathing + chest mobility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8ECA89-C001-43E8-96C5-9EE14067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911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13A"/>
                </a:solidFill>
              </a:defRPr>
            </a:pPr>
            <a:r>
              <a:rPr sz="1200" b="0">
                <a:solidFill>
                  <a:srgbClr val="16313A"/>
                </a:solidFill>
              </a:rPr>
              <a:t>“improving cardiorespiratory functional capacity”</a:t>
            </a:r>
          </a:p>
        </p:txBody>
      </p:sp>
      <p:sp>
        <p:nvSpPr>
          <p:cNvPr id="33" name="paper-url-39425012">
            <a:extLst xmlns:a="http://schemas.openxmlformats.org/drawingml/2006/main">
              <a:ext uri="{FF2B5EF4-FFF2-40B4-BE49-F238E27FC236}">
                <a16:creationId xmlns:a16="http://schemas.microsoft.com/office/drawing/2014/main" id="{D95BAD31-96A5-4E5F-95A1-40A5911C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768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F7F64"/>
                </a:solidFill>
              </a:defRPr>
            </a:pPr>
            <a:r>
              <a:rPr sz="825" b="0">
                <a:solidFill>
                  <a:srgbClr val="EF7F64"/>
                </a:solidFill>
                <a:hlinkClick xmlns:r="http://schemas.openxmlformats.org/officeDocument/2006/relationships" r:id="Rc883dc9cea9e4e91"/>
              </a:rPr>
              <a:t>https://pubmed.ncbi.nlm.nih.gov/39425012/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E7121F-9C2F-4601-8EA3-260A3EFA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62475"/>
            <a:ext cx="5238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D51F8-6C67-48D2-8A88-C2C5817E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52975"/>
            <a:ext cx="1000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8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7D95D3-C2E9-44FC-9FF5-9F8CD4BA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720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41906071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3BA931-E6B0-4289-B89D-CDB986B6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7C78"/>
                </a:solidFill>
              </a:defRPr>
            </a:pPr>
            <a:r>
              <a:rPr sz="1275" b="1">
                <a:solidFill>
                  <a:srgbClr val="0A7C78"/>
                </a:solidFill>
              </a:rPr>
              <a:t>Inspiratory muscle strength training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696B61-231B-434D-979C-9CD89232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911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13A"/>
                </a:solidFill>
              </a:defRPr>
            </a:pPr>
            <a:r>
              <a:rPr sz="1200" b="0">
                <a:solidFill>
                  <a:srgbClr val="16313A"/>
                </a:solidFill>
              </a:rPr>
              <a:t>“support the integration of IMST into pulmonary rehabilitation programs for this specific patient group”</a:t>
            </a:r>
          </a:p>
        </p:txBody>
      </p:sp>
      <p:sp>
        <p:nvSpPr>
          <p:cNvPr id="39" name="paper-url-41906071">
            <a:extLst xmlns:a="http://schemas.openxmlformats.org/drawingml/2006/main">
              <a:ext uri="{FF2B5EF4-FFF2-40B4-BE49-F238E27FC236}">
                <a16:creationId xmlns:a16="http://schemas.microsoft.com/office/drawing/2014/main" id="{9253A9B8-3D4C-4792-A4C6-DB3CC733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768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F7F64"/>
                </a:solidFill>
              </a:defRPr>
            </a:pPr>
            <a:r>
              <a:rPr sz="825" b="0">
                <a:solidFill>
                  <a:srgbClr val="EF7F64"/>
                </a:solidFill>
                <a:hlinkClick xmlns:r="http://schemas.openxmlformats.org/officeDocument/2006/relationships" r:id="R5a8ea3d1b35443a3"/>
              </a:rPr>
              <a:t>https://pubmed.ncbi.nlm.nih.gov/41906071/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8D7DCC-3B28-4658-AC54-0940E3F8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341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7277"/>
                </a:solidFill>
              </a:defRPr>
            </a:pPr>
            <a:r>
              <a:rPr sz="1200" b="0">
                <a:solidFill>
                  <a:srgbClr val="5F7277"/>
                </a:solidFill>
              </a:rPr>
              <a:t>Brief author-conclusion excerpts—not independent appraisal. Click a URL to open the PubMed record.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73A606-5CC7-4B3C-8B0A-8A166D3D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277"/>
                </a:solidFill>
              </a:defRPr>
            </a:pPr>
            <a:r>
              <a:rPr sz="900" b="0">
                <a:solidFill>
                  <a:srgbClr val="5F7277"/>
                </a:solidFill>
              </a:rPr>
              <a:t>Long COVID rehabilitation evidence · Interim snapshot · 3 Aug 2026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80E3B7-993E-4745-B055-6E61A18B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313A"/>
                </a:solidFill>
              </a:defRPr>
            </a:pPr>
            <a:r>
              <a:rPr sz="900" b="1">
                <a:solidFill>
                  <a:srgbClr val="16313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554303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2026-08-03T01:51:58.8100000Z</dcterms:created>
  <dcterms:modified xsi:type="dcterms:W3CDTF">2026-08-03T01:51:58.8100000Z</dcterms:modified>
</coreProperties>
</file>